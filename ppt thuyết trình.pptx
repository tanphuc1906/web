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62" r:id="rId4"/>
    <p:sldId id="258" r:id="rId5"/>
    <p:sldId id="259" r:id="rId6"/>
    <p:sldId id="260" r:id="rId7"/>
    <p:sldId id="261" r:id="rId8"/>
    <p:sldId id="263" r:id="rId9"/>
    <p:sldId id="264" r:id="rId10"/>
    <p:sldId id="265" r:id="rId11"/>
    <p:sldId id="266" r:id="rId12"/>
  </p:sldIdLst>
  <p:sldSz cx="9144000" cy="5143500" type="screen16x9"/>
  <p:notesSz cx="5143500" cy="9144000"/>
  <p:embeddedFontLst>
    <p:embeddedFont>
      <p:font typeface="Comfortaa Bold" panose="020B0604020202020204" charset="0"/>
      <p:regular r:id="rId14"/>
    </p:embeddedFont>
    <p:embeddedFont>
      <p:font typeface="Raleway Medium" pitchFamily="2"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7272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62" d="100"/>
          <a:sy n="162" d="100"/>
        </p:scale>
        <p:origin x="144"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03734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txBody>
          <a:bodyPr/>
          <a:lstStyle/>
          <a:p>
            <a:endParaRPr lang="en-US"/>
          </a:p>
        </p:txBody>
      </p:sp>
      <p:sp>
        <p:nvSpPr>
          <p:cNvPr id="3" name="Shape 1"/>
          <p:cNvSpPr/>
          <p:nvPr/>
        </p:nvSpPr>
        <p:spPr>
          <a:xfrm>
            <a:off x="0" y="0"/>
            <a:ext cx="9144000" cy="5143500"/>
          </a:xfrm>
          <a:prstGeom prst="rect">
            <a:avLst/>
          </a:prstGeom>
          <a:solidFill>
            <a:srgbClr val="27272B"/>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69023" y="1533599"/>
            <a:ext cx="4634954" cy="857250"/>
          </a:xfrm>
          <a:prstGeom prst="rect">
            <a:avLst/>
          </a:prstGeom>
          <a:noFill/>
          <a:ln/>
        </p:spPr>
        <p:txBody>
          <a:bodyPr wrap="square" lIns="0" tIns="0" rIns="0" bIns="0" rtlCol="0" anchor="t">
            <a:normAutofit/>
          </a:bodyPr>
          <a:lstStyle/>
          <a:p>
            <a:pPr marL="0" indent="0" algn="l">
              <a:lnSpc>
                <a:spcPct val="104000"/>
              </a:lnSpc>
              <a:buNone/>
            </a:pPr>
            <a:r>
              <a:rPr lang="en-US" sz="2700" b="1" dirty="0">
                <a:solidFill>
                  <a:srgbClr val="FFE14D"/>
                </a:solidFill>
                <a:latin typeface="Comfortaa Bold" pitchFamily="34" charset="0"/>
                <a:ea typeface="Comfortaa Bold" pitchFamily="34" charset="-122"/>
                <a:cs typeface="Comfortaa Bold" pitchFamily="34" charset="-120"/>
              </a:rPr>
              <a:t>Portfolio &amp; SD'bike — Tổng quan dự án</a:t>
            </a:r>
            <a:endParaRPr lang="en-US" sz="2700" dirty="0"/>
          </a:p>
        </p:txBody>
      </p:sp>
      <p:sp>
        <p:nvSpPr>
          <p:cNvPr id="4" name="Text 1"/>
          <p:cNvSpPr/>
          <p:nvPr/>
        </p:nvSpPr>
        <p:spPr>
          <a:xfrm>
            <a:off x="3969023" y="2622277"/>
            <a:ext cx="4634954" cy="987623"/>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D7D4CC"/>
                </a:solidFill>
                <a:latin typeface="Raleway Medium" pitchFamily="34" charset="0"/>
                <a:ea typeface="Raleway Medium" pitchFamily="34" charset="-122"/>
                <a:cs typeface="Raleway Medium" pitchFamily="34" charset="-120"/>
              </a:rPr>
              <a:t>Xây dựng một trang portfolio cá nhân kết hợp với một cửa hàng thương mại điện tử hiện đại mô phỏng, sử dụng phong cách cyberpunk tối và glassmorphism. Nền tảng: Giao diện web (Static / MPA).</a:t>
            </a:r>
            <a:endParaRPr lang="en-US" sz="1200" dirty="0"/>
          </a:p>
        </p:txBody>
      </p:sp>
      <p:sp>
        <p:nvSpPr>
          <p:cNvPr id="5" name="Rectangle 4">
            <a:extLst>
              <a:ext uri="{FF2B5EF4-FFF2-40B4-BE49-F238E27FC236}">
                <a16:creationId xmlns:a16="http://schemas.microsoft.com/office/drawing/2014/main" id="{09C024D8-33C6-79A2-AE58-D71E238EC8C5}"/>
              </a:ext>
            </a:extLst>
          </p:cNvPr>
          <p:cNvSpPr/>
          <p:nvPr/>
        </p:nvSpPr>
        <p:spPr>
          <a:xfrm>
            <a:off x="8023122" y="4855146"/>
            <a:ext cx="1120877" cy="288354"/>
          </a:xfrm>
          <a:prstGeom prst="rect">
            <a:avLst/>
          </a:prstGeom>
          <a:solidFill>
            <a:srgbClr val="2727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0023" y="1679302"/>
            <a:ext cx="3886200" cy="428625"/>
          </a:xfrm>
          <a:prstGeom prst="rect">
            <a:avLst/>
          </a:prstGeom>
          <a:noFill/>
          <a:ln/>
        </p:spPr>
        <p:txBody>
          <a:bodyPr wrap="none" lIns="0" tIns="0" rIns="0" bIns="0" rtlCol="0" anchor="t"/>
          <a:lstStyle/>
          <a:p>
            <a:pPr marL="0" indent="0" algn="l">
              <a:lnSpc>
                <a:spcPct val="104000"/>
              </a:lnSpc>
              <a:buNone/>
            </a:pPr>
            <a:r>
              <a:rPr lang="en-US" sz="2700" b="1" dirty="0">
                <a:solidFill>
                  <a:srgbClr val="FFE14D"/>
                </a:solidFill>
                <a:latin typeface="Comfortaa Bold" pitchFamily="34" charset="0"/>
                <a:ea typeface="Comfortaa Bold" pitchFamily="34" charset="-122"/>
                <a:cs typeface="Comfortaa Bold" pitchFamily="34" charset="-120"/>
              </a:rPr>
              <a:t>Công nghệ cốt lõi</a:t>
            </a:r>
            <a:endParaRPr lang="en-US" sz="2700" dirty="0"/>
          </a:p>
        </p:txBody>
      </p:sp>
      <p:pic>
        <p:nvPicPr>
          <p:cNvPr id="3" name="Image 0" descr="preencoded.png"/>
          <p:cNvPicPr>
            <a:picLocks noChangeAspect="1"/>
          </p:cNvPicPr>
          <p:nvPr/>
        </p:nvPicPr>
        <p:blipFill>
          <a:blip r:embed="rId3"/>
          <a:stretch>
            <a:fillRect/>
          </a:stretch>
        </p:blipFill>
        <p:spPr>
          <a:xfrm>
            <a:off x="540023" y="2416522"/>
            <a:ext cx="563017" cy="347960"/>
          </a:xfrm>
          <a:prstGeom prst="rect">
            <a:avLst/>
          </a:prstGeom>
        </p:spPr>
      </p:pic>
      <p:sp>
        <p:nvSpPr>
          <p:cNvPr id="4" name="Text 1"/>
          <p:cNvSpPr/>
          <p:nvPr/>
        </p:nvSpPr>
        <p:spPr>
          <a:xfrm>
            <a:off x="1295921" y="2416522"/>
            <a:ext cx="1714500" cy="214313"/>
          </a:xfrm>
          <a:prstGeom prst="rect">
            <a:avLst/>
          </a:prstGeom>
          <a:noFill/>
          <a:ln/>
        </p:spPr>
        <p:txBody>
          <a:bodyPr wrap="none" lIns="0" tIns="0" rIns="0" bIns="0" rtlCol="0" anchor="t"/>
          <a:lstStyle/>
          <a:p>
            <a:pPr marL="0" indent="0" algn="l">
              <a:lnSpc>
                <a:spcPct val="104000"/>
              </a:lnSpc>
              <a:buNone/>
            </a:pPr>
            <a:r>
              <a:rPr lang="en-US" sz="1350" b="1" dirty="0">
                <a:solidFill>
                  <a:srgbClr val="D7D4CC"/>
                </a:solidFill>
                <a:latin typeface="Comfortaa Bold" pitchFamily="34" charset="0"/>
                <a:ea typeface="Comfortaa Bold" pitchFamily="34" charset="-122"/>
                <a:cs typeface="Comfortaa Bold" pitchFamily="34" charset="-120"/>
              </a:rPr>
              <a:t>HTML5</a:t>
            </a:r>
            <a:endParaRPr lang="en-US" sz="1350" dirty="0"/>
          </a:p>
        </p:txBody>
      </p:sp>
      <p:sp>
        <p:nvSpPr>
          <p:cNvPr id="5" name="Text 2"/>
          <p:cNvSpPr/>
          <p:nvPr/>
        </p:nvSpPr>
        <p:spPr>
          <a:xfrm>
            <a:off x="1295921" y="2723406"/>
            <a:ext cx="1803499" cy="740718"/>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D7D4CC"/>
                </a:solidFill>
                <a:latin typeface="Raleway Medium" pitchFamily="34" charset="0"/>
                <a:ea typeface="Raleway Medium" pitchFamily="34" charset="-122"/>
                <a:cs typeface="Raleway Medium" pitchFamily="34" charset="-120"/>
              </a:rPr>
              <a:t>Đánh dấu ngữ nghĩa cho cấu trúc và khả năng truy cập.</a:t>
            </a:r>
            <a:endParaRPr lang="en-US" sz="1200" dirty="0"/>
          </a:p>
        </p:txBody>
      </p:sp>
      <p:pic>
        <p:nvPicPr>
          <p:cNvPr id="6" name="Image 1" descr="preencoded.png"/>
          <p:cNvPicPr>
            <a:picLocks noChangeAspect="1"/>
          </p:cNvPicPr>
          <p:nvPr/>
        </p:nvPicPr>
        <p:blipFill>
          <a:blip r:embed="rId4"/>
          <a:stretch>
            <a:fillRect/>
          </a:stretch>
        </p:blipFill>
        <p:spPr>
          <a:xfrm>
            <a:off x="3292301" y="2416522"/>
            <a:ext cx="563017" cy="347960"/>
          </a:xfrm>
          <a:prstGeom prst="rect">
            <a:avLst/>
          </a:prstGeom>
        </p:spPr>
      </p:pic>
      <p:sp>
        <p:nvSpPr>
          <p:cNvPr id="7" name="Text 3"/>
          <p:cNvSpPr/>
          <p:nvPr/>
        </p:nvSpPr>
        <p:spPr>
          <a:xfrm>
            <a:off x="4048199" y="2416522"/>
            <a:ext cx="1714500" cy="214313"/>
          </a:xfrm>
          <a:prstGeom prst="rect">
            <a:avLst/>
          </a:prstGeom>
          <a:noFill/>
          <a:ln/>
        </p:spPr>
        <p:txBody>
          <a:bodyPr wrap="none" lIns="0" tIns="0" rIns="0" bIns="0" rtlCol="0" anchor="t"/>
          <a:lstStyle/>
          <a:p>
            <a:pPr marL="0" indent="0" algn="l">
              <a:lnSpc>
                <a:spcPct val="104000"/>
              </a:lnSpc>
              <a:buNone/>
            </a:pPr>
            <a:r>
              <a:rPr lang="en-US" sz="1350" b="1" dirty="0">
                <a:solidFill>
                  <a:srgbClr val="D7D4CC"/>
                </a:solidFill>
                <a:latin typeface="Comfortaa Bold" pitchFamily="34" charset="0"/>
                <a:ea typeface="Comfortaa Bold" pitchFamily="34" charset="-122"/>
                <a:cs typeface="Comfortaa Bold" pitchFamily="34" charset="-120"/>
              </a:rPr>
              <a:t>CSS3</a:t>
            </a:r>
            <a:endParaRPr lang="en-US" sz="1350" dirty="0"/>
          </a:p>
        </p:txBody>
      </p:sp>
      <p:sp>
        <p:nvSpPr>
          <p:cNvPr id="8" name="Text 4"/>
          <p:cNvSpPr/>
          <p:nvPr/>
        </p:nvSpPr>
        <p:spPr>
          <a:xfrm>
            <a:off x="4048199" y="2723406"/>
            <a:ext cx="1803499" cy="740718"/>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D7D4CC"/>
                </a:solidFill>
                <a:latin typeface="Raleway Medium" pitchFamily="34" charset="0"/>
                <a:ea typeface="Raleway Medium" pitchFamily="34" charset="-122"/>
                <a:cs typeface="Raleway Medium" pitchFamily="34" charset="-120"/>
              </a:rPr>
              <a:t>Tạo kiểu, glassmorphism, hiệu ứng động, lưới đáp ứng.</a:t>
            </a:r>
            <a:endParaRPr lang="en-US" sz="1200" dirty="0"/>
          </a:p>
        </p:txBody>
      </p:sp>
      <p:pic>
        <p:nvPicPr>
          <p:cNvPr id="9" name="Image 2" descr="preencoded.png"/>
          <p:cNvPicPr>
            <a:picLocks noChangeAspect="1"/>
          </p:cNvPicPr>
          <p:nvPr/>
        </p:nvPicPr>
        <p:blipFill>
          <a:blip r:embed="rId5"/>
          <a:stretch>
            <a:fillRect/>
          </a:stretch>
        </p:blipFill>
        <p:spPr>
          <a:xfrm>
            <a:off x="6044580" y="2416522"/>
            <a:ext cx="563017" cy="347960"/>
          </a:xfrm>
          <a:prstGeom prst="rect">
            <a:avLst/>
          </a:prstGeom>
        </p:spPr>
      </p:pic>
      <p:sp>
        <p:nvSpPr>
          <p:cNvPr id="10" name="Text 5"/>
          <p:cNvSpPr/>
          <p:nvPr/>
        </p:nvSpPr>
        <p:spPr>
          <a:xfrm>
            <a:off x="6800478" y="2416522"/>
            <a:ext cx="1714500" cy="214313"/>
          </a:xfrm>
          <a:prstGeom prst="rect">
            <a:avLst/>
          </a:prstGeom>
          <a:noFill/>
          <a:ln/>
        </p:spPr>
        <p:txBody>
          <a:bodyPr wrap="none" lIns="0" tIns="0" rIns="0" bIns="0" rtlCol="0" anchor="t"/>
          <a:lstStyle/>
          <a:p>
            <a:pPr marL="0" indent="0" algn="l">
              <a:lnSpc>
                <a:spcPct val="104000"/>
              </a:lnSpc>
              <a:buNone/>
            </a:pPr>
            <a:r>
              <a:rPr lang="en-US" sz="1350" b="1" dirty="0">
                <a:solidFill>
                  <a:srgbClr val="D7D4CC"/>
                </a:solidFill>
                <a:latin typeface="Comfortaa Bold" pitchFamily="34" charset="0"/>
                <a:ea typeface="Comfortaa Bold" pitchFamily="34" charset="-122"/>
                <a:cs typeface="Comfortaa Bold" pitchFamily="34" charset="-120"/>
              </a:rPr>
              <a:t>JavaScript </a:t>
            </a:r>
            <a:endParaRPr lang="en-US" sz="1350" dirty="0"/>
          </a:p>
        </p:txBody>
      </p:sp>
      <p:sp>
        <p:nvSpPr>
          <p:cNvPr id="11" name="Text 6"/>
          <p:cNvSpPr/>
          <p:nvPr/>
        </p:nvSpPr>
        <p:spPr>
          <a:xfrm>
            <a:off x="6800478" y="2723406"/>
            <a:ext cx="1803499" cy="740718"/>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D7D4CC"/>
                </a:solidFill>
                <a:latin typeface="Raleway Medium" pitchFamily="34" charset="0"/>
                <a:ea typeface="Raleway Medium" pitchFamily="34" charset="-122"/>
                <a:cs typeface="Raleway Medium" pitchFamily="34" charset="-120"/>
              </a:rPr>
              <a:t>Hành vi và tương tác — không dùng các khung JS nặng.</a:t>
            </a:r>
            <a:endParaRPr lang="en-US" sz="1200" dirty="0"/>
          </a:p>
        </p:txBody>
      </p:sp>
      <p:sp>
        <p:nvSpPr>
          <p:cNvPr id="12" name="Rectangle 11">
            <a:extLst>
              <a:ext uri="{FF2B5EF4-FFF2-40B4-BE49-F238E27FC236}">
                <a16:creationId xmlns:a16="http://schemas.microsoft.com/office/drawing/2014/main" id="{45EF0115-03B9-4BEC-EE24-8F32ADB69444}"/>
              </a:ext>
            </a:extLst>
          </p:cNvPr>
          <p:cNvSpPr/>
          <p:nvPr/>
        </p:nvSpPr>
        <p:spPr>
          <a:xfrm>
            <a:off x="8023122" y="4855146"/>
            <a:ext cx="1120877" cy="288354"/>
          </a:xfrm>
          <a:prstGeom prst="rect">
            <a:avLst/>
          </a:prstGeom>
          <a:solidFill>
            <a:srgbClr val="2727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0023" y="505420"/>
            <a:ext cx="8063954" cy="857250"/>
          </a:xfrm>
          <a:prstGeom prst="rect">
            <a:avLst/>
          </a:prstGeom>
          <a:noFill/>
          <a:ln/>
        </p:spPr>
        <p:txBody>
          <a:bodyPr wrap="square" lIns="0" tIns="0" rIns="0" bIns="0" rtlCol="0" anchor="t">
            <a:normAutofit/>
          </a:bodyPr>
          <a:lstStyle/>
          <a:p>
            <a:pPr marL="0" indent="0" algn="l">
              <a:lnSpc>
                <a:spcPct val="104000"/>
              </a:lnSpc>
              <a:buNone/>
            </a:pPr>
            <a:r>
              <a:rPr lang="en-US" sz="2700" b="1" dirty="0">
                <a:solidFill>
                  <a:srgbClr val="FFE14D"/>
                </a:solidFill>
                <a:latin typeface="Comfortaa Bold" pitchFamily="34" charset="0"/>
                <a:ea typeface="Comfortaa Bold" pitchFamily="34" charset="-122"/>
                <a:cs typeface="Comfortaa Bold" pitchFamily="34" charset="-120"/>
              </a:rPr>
              <a:t>Kiến thức Áp dụng — Nền tảng &amp; Kỹ thuật Nâng cao</a:t>
            </a:r>
            <a:endParaRPr lang="en-US" sz="2700" dirty="0"/>
          </a:p>
        </p:txBody>
      </p:sp>
      <p:sp>
        <p:nvSpPr>
          <p:cNvPr id="3" name="Shape 1"/>
          <p:cNvSpPr/>
          <p:nvPr/>
        </p:nvSpPr>
        <p:spPr>
          <a:xfrm>
            <a:off x="540023" y="1671265"/>
            <a:ext cx="3954810" cy="2966814"/>
          </a:xfrm>
          <a:prstGeom prst="roundRect">
            <a:avLst>
              <a:gd name="adj" fmla="val 7802"/>
            </a:avLst>
          </a:prstGeom>
          <a:solidFill>
            <a:srgbClr val="46464A"/>
          </a:solidFill>
          <a:ln/>
        </p:spPr>
        <p:txBody>
          <a:bodyPr/>
          <a:lstStyle/>
          <a:p>
            <a:endParaRPr lang="en-US"/>
          </a:p>
        </p:txBody>
      </p:sp>
      <p:sp>
        <p:nvSpPr>
          <p:cNvPr id="4" name="Text 2"/>
          <p:cNvSpPr/>
          <p:nvPr/>
        </p:nvSpPr>
        <p:spPr>
          <a:xfrm>
            <a:off x="694283" y="1825526"/>
            <a:ext cx="3235151" cy="214313"/>
          </a:xfrm>
          <a:prstGeom prst="rect">
            <a:avLst/>
          </a:prstGeom>
          <a:noFill/>
          <a:ln/>
        </p:spPr>
        <p:txBody>
          <a:bodyPr wrap="none" lIns="0" tIns="0" rIns="0" bIns="0" rtlCol="0" anchor="t"/>
          <a:lstStyle/>
          <a:p>
            <a:pPr marL="0" indent="0" algn="l">
              <a:lnSpc>
                <a:spcPct val="104000"/>
              </a:lnSpc>
              <a:buNone/>
            </a:pPr>
            <a:r>
              <a:rPr lang="en-US" sz="1350" b="1" dirty="0">
                <a:solidFill>
                  <a:srgbClr val="D7D4CC"/>
                </a:solidFill>
                <a:latin typeface="Comfortaa Bold" pitchFamily="34" charset="0"/>
                <a:ea typeface="Comfortaa Bold" pitchFamily="34" charset="-122"/>
                <a:cs typeface="Comfortaa Bold" pitchFamily="34" charset="-120"/>
              </a:rPr>
              <a:t>Kiến thức nền tảng (Đã học trên lớp)</a:t>
            </a:r>
            <a:endParaRPr lang="en-US" sz="1350" dirty="0"/>
          </a:p>
        </p:txBody>
      </p:sp>
      <p:sp>
        <p:nvSpPr>
          <p:cNvPr id="5" name="Text 3"/>
          <p:cNvSpPr/>
          <p:nvPr/>
        </p:nvSpPr>
        <p:spPr>
          <a:xfrm>
            <a:off x="694283" y="2132409"/>
            <a:ext cx="3646289" cy="1342430"/>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1200" dirty="0">
                <a:solidFill>
                  <a:srgbClr val="D7D4CC"/>
                </a:solidFill>
                <a:latin typeface="Raleway Medium" pitchFamily="34" charset="0"/>
                <a:ea typeface="Raleway Medium" pitchFamily="34" charset="-122"/>
                <a:cs typeface="Raleway Medium" pitchFamily="34" charset="-120"/>
              </a:rPr>
              <a:t>HTML5 &amp; CSS3: Xây dựng cấu trúc Semantic rõ ràng, responsive cơ bản</a:t>
            </a:r>
            <a:endParaRPr lang="en-US" sz="1200" dirty="0"/>
          </a:p>
          <a:p>
            <a:pPr marL="342900" indent="-342900" algn="l">
              <a:lnSpc>
                <a:spcPct val="133000"/>
              </a:lnSpc>
              <a:buSzPct val="100000"/>
              <a:buChar char="•"/>
            </a:pPr>
            <a:r>
              <a:rPr lang="en-US" sz="1200" dirty="0">
                <a:solidFill>
                  <a:srgbClr val="D7D4CC"/>
                </a:solidFill>
                <a:latin typeface="Raleway Medium" pitchFamily="34" charset="0"/>
                <a:ea typeface="Raleway Medium" pitchFamily="34" charset="-122"/>
                <a:cs typeface="Raleway Medium" pitchFamily="34" charset="-120"/>
              </a:rPr>
              <a:t>Bootstrap 5: Grid System (col, row) và Components (Navbar, Carousel, Form)</a:t>
            </a:r>
            <a:endParaRPr lang="en-US" sz="1200" dirty="0"/>
          </a:p>
          <a:p>
            <a:pPr marL="342900" indent="-342900" algn="l">
              <a:lnSpc>
                <a:spcPct val="133000"/>
              </a:lnSpc>
              <a:buSzPct val="100000"/>
              <a:buChar char="•"/>
            </a:pPr>
            <a:r>
              <a:rPr lang="en-US" sz="1200" dirty="0">
                <a:solidFill>
                  <a:srgbClr val="D7D4CC"/>
                </a:solidFill>
                <a:latin typeface="Raleway Medium" pitchFamily="34" charset="0"/>
                <a:ea typeface="Raleway Medium" pitchFamily="34" charset="-122"/>
                <a:cs typeface="Raleway Medium" pitchFamily="34" charset="-120"/>
              </a:rPr>
              <a:t>Animation : áp dụng animation animista.</a:t>
            </a:r>
            <a:endParaRPr lang="en-US" sz="1200" dirty="0"/>
          </a:p>
        </p:txBody>
      </p:sp>
      <p:sp>
        <p:nvSpPr>
          <p:cNvPr id="6" name="Shape 4"/>
          <p:cNvSpPr/>
          <p:nvPr/>
        </p:nvSpPr>
        <p:spPr>
          <a:xfrm>
            <a:off x="4649093" y="1671265"/>
            <a:ext cx="3954884" cy="2966814"/>
          </a:xfrm>
          <a:prstGeom prst="roundRect">
            <a:avLst>
              <a:gd name="adj" fmla="val 7802"/>
            </a:avLst>
          </a:prstGeom>
          <a:solidFill>
            <a:srgbClr val="FFE14D"/>
          </a:solidFill>
          <a:ln/>
        </p:spPr>
        <p:txBody>
          <a:bodyPr/>
          <a:lstStyle/>
          <a:p>
            <a:endParaRPr lang="en-US"/>
          </a:p>
        </p:txBody>
      </p:sp>
      <p:sp>
        <p:nvSpPr>
          <p:cNvPr id="7" name="Text 5"/>
          <p:cNvSpPr/>
          <p:nvPr/>
        </p:nvSpPr>
        <p:spPr>
          <a:xfrm>
            <a:off x="4803353" y="1825526"/>
            <a:ext cx="3646363" cy="428625"/>
          </a:xfrm>
          <a:prstGeom prst="rect">
            <a:avLst/>
          </a:prstGeom>
          <a:noFill/>
          <a:ln/>
        </p:spPr>
        <p:txBody>
          <a:bodyPr wrap="square" lIns="0" tIns="0" rIns="0" bIns="0" rtlCol="0" anchor="t">
            <a:normAutofit/>
          </a:bodyPr>
          <a:lstStyle/>
          <a:p>
            <a:pPr marL="0" indent="0" algn="l">
              <a:lnSpc>
                <a:spcPct val="104000"/>
              </a:lnSpc>
              <a:buNone/>
            </a:pPr>
            <a:r>
              <a:rPr lang="en-US" sz="1350" b="1" dirty="0">
                <a:solidFill>
                  <a:srgbClr val="000000"/>
                </a:solidFill>
                <a:latin typeface="Comfortaa Bold" pitchFamily="34" charset="0"/>
                <a:ea typeface="Comfortaa Bold" pitchFamily="34" charset="-122"/>
                <a:cs typeface="Comfortaa Bold" pitchFamily="34" charset="-120"/>
              </a:rPr>
              <a:t>Kỹ thuật nâng cao (Tự tìm tòi bên ngoài) 🌟</a:t>
            </a:r>
            <a:endParaRPr lang="en-US" sz="1350" dirty="0"/>
          </a:p>
        </p:txBody>
      </p:sp>
      <p:sp>
        <p:nvSpPr>
          <p:cNvPr id="8" name="Text 6"/>
          <p:cNvSpPr/>
          <p:nvPr/>
        </p:nvSpPr>
        <p:spPr>
          <a:xfrm>
            <a:off x="4803353" y="2346722"/>
            <a:ext cx="3646363" cy="2137097"/>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1200" dirty="0">
                <a:solidFill>
                  <a:srgbClr val="000000"/>
                </a:solidFill>
                <a:latin typeface="Raleway Medium" pitchFamily="34" charset="0"/>
                <a:ea typeface="Raleway Medium" pitchFamily="34" charset="-122"/>
                <a:cs typeface="Raleway Medium" pitchFamily="34" charset="-120"/>
              </a:rPr>
              <a:t>IntersectionObserver API: Tối ưu hiệu ứng Reveal-on-scroll, không bị lag</a:t>
            </a:r>
            <a:endParaRPr lang="en-US" sz="1200" dirty="0"/>
          </a:p>
          <a:p>
            <a:pPr marL="342900" indent="-342900" algn="l">
              <a:lnSpc>
                <a:spcPct val="133000"/>
              </a:lnSpc>
              <a:buSzPct val="100000"/>
              <a:buChar char="•"/>
            </a:pPr>
            <a:r>
              <a:rPr lang="en-US" sz="1200" dirty="0">
                <a:solidFill>
                  <a:srgbClr val="000000"/>
                </a:solidFill>
                <a:latin typeface="Raleway Medium" pitchFamily="34" charset="0"/>
                <a:ea typeface="Raleway Medium" pitchFamily="34" charset="-122"/>
                <a:cs typeface="Raleway Medium" pitchFamily="34" charset="-120"/>
              </a:rPr>
              <a:t>i18n (Internationalization): Hệ thống Đa ngôn ngữ động (Anh-Việt) không cần reload</a:t>
            </a:r>
            <a:endParaRPr lang="en-US" sz="1200" dirty="0"/>
          </a:p>
          <a:p>
            <a:pPr marL="342900" indent="-342900" algn="l">
              <a:lnSpc>
                <a:spcPct val="133000"/>
              </a:lnSpc>
              <a:buSzPct val="100000"/>
              <a:buChar char="•"/>
            </a:pPr>
            <a:r>
              <a:rPr lang="en-US" sz="1200" dirty="0">
                <a:solidFill>
                  <a:srgbClr val="000000"/>
                </a:solidFill>
                <a:latin typeface="Raleway Medium" pitchFamily="34" charset="0"/>
                <a:ea typeface="Raleway Medium" pitchFamily="34" charset="-122"/>
                <a:cs typeface="Raleway Medium" pitchFamily="34" charset="-120"/>
              </a:rPr>
              <a:t>HTML Canvas API: Thay đổi màu Logo linh hoạt khớp Dark/Light mode</a:t>
            </a:r>
            <a:endParaRPr lang="en-US" sz="1200" dirty="0"/>
          </a:p>
          <a:p>
            <a:pPr marL="342900" indent="-342900" algn="l">
              <a:lnSpc>
                <a:spcPct val="133000"/>
              </a:lnSpc>
              <a:buSzPct val="100000"/>
              <a:buChar char="•"/>
            </a:pPr>
            <a:r>
              <a:rPr lang="en-US" sz="1200" dirty="0">
                <a:solidFill>
                  <a:srgbClr val="000000"/>
                </a:solidFill>
                <a:latin typeface="Raleway Medium" pitchFamily="34" charset="0"/>
                <a:ea typeface="Raleway Medium" pitchFamily="34" charset="-122"/>
                <a:cs typeface="Raleway Medium" pitchFamily="34" charset="-120"/>
              </a:rPr>
              <a:t>CSS Variables &amp; Glassmorphism: Quản lý màu sắc bằng biến CSS, backdrop-filter</a:t>
            </a:r>
            <a:endParaRPr lang="en-US" sz="1200" dirty="0"/>
          </a:p>
        </p:txBody>
      </p:sp>
      <p:sp>
        <p:nvSpPr>
          <p:cNvPr id="10" name="Rectangle 9">
            <a:extLst>
              <a:ext uri="{FF2B5EF4-FFF2-40B4-BE49-F238E27FC236}">
                <a16:creationId xmlns:a16="http://schemas.microsoft.com/office/drawing/2014/main" id="{6BB46431-4743-AFD1-DFCB-A784F8A352D3}"/>
              </a:ext>
            </a:extLst>
          </p:cNvPr>
          <p:cNvSpPr/>
          <p:nvPr/>
        </p:nvSpPr>
        <p:spPr>
          <a:xfrm>
            <a:off x="8023122" y="4855146"/>
            <a:ext cx="1120877" cy="288354"/>
          </a:xfrm>
          <a:prstGeom prst="rect">
            <a:avLst/>
          </a:prstGeom>
          <a:solidFill>
            <a:srgbClr val="2727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817144" y="318120"/>
            <a:ext cx="4938712" cy="616148"/>
          </a:xfrm>
          <a:prstGeom prst="rect">
            <a:avLst/>
          </a:prstGeom>
          <a:noFill/>
          <a:ln/>
        </p:spPr>
        <p:txBody>
          <a:bodyPr wrap="square" lIns="0" tIns="0" rIns="0" bIns="0" rtlCol="0" anchor="t">
            <a:normAutofit/>
          </a:bodyPr>
          <a:lstStyle/>
          <a:p>
            <a:pPr marL="0" indent="0" algn="l">
              <a:lnSpc>
                <a:spcPct val="104000"/>
              </a:lnSpc>
              <a:buNone/>
            </a:pPr>
            <a:r>
              <a:rPr lang="en-US" sz="1900" b="1" dirty="0">
                <a:solidFill>
                  <a:srgbClr val="FFE14D"/>
                </a:solidFill>
                <a:latin typeface="Comfortaa Bold" pitchFamily="34" charset="0"/>
                <a:ea typeface="Comfortaa Bold" pitchFamily="34" charset="-122"/>
                <a:cs typeface="Comfortaa Bold" pitchFamily="34" charset="-120"/>
              </a:rPr>
              <a:t>Thiết kế UI/UX — Phong cách Dark-Theme Cyberpunk</a:t>
            </a:r>
            <a:endParaRPr lang="en-US" sz="1900" dirty="0"/>
          </a:p>
        </p:txBody>
      </p:sp>
      <p:sp>
        <p:nvSpPr>
          <p:cNvPr id="4" name="Text 1"/>
          <p:cNvSpPr/>
          <p:nvPr/>
        </p:nvSpPr>
        <p:spPr>
          <a:xfrm>
            <a:off x="3817144" y="966118"/>
            <a:ext cx="1689497" cy="154037"/>
          </a:xfrm>
          <a:prstGeom prst="rect">
            <a:avLst/>
          </a:prstGeom>
          <a:noFill/>
          <a:ln/>
        </p:spPr>
        <p:txBody>
          <a:bodyPr wrap="none" lIns="0" tIns="0" rIns="0" bIns="0" rtlCol="0" anchor="t"/>
          <a:lstStyle/>
          <a:p>
            <a:pPr marL="0" indent="0" algn="l">
              <a:lnSpc>
                <a:spcPct val="104000"/>
              </a:lnSpc>
              <a:buNone/>
            </a:pPr>
            <a:r>
              <a:rPr lang="en-US" sz="950" b="1" dirty="0">
                <a:solidFill>
                  <a:srgbClr val="FFE14D"/>
                </a:solidFill>
                <a:latin typeface="Comfortaa Bold" pitchFamily="34" charset="0"/>
                <a:ea typeface="Comfortaa Bold" pitchFamily="34" charset="-122"/>
                <a:cs typeface="Comfortaa Bold" pitchFamily="34" charset="-120"/>
              </a:rPr>
              <a:t>Ý tưởng giao diện</a:t>
            </a:r>
            <a:endParaRPr lang="en-US" sz="950" dirty="0"/>
          </a:p>
        </p:txBody>
      </p:sp>
      <p:sp>
        <p:nvSpPr>
          <p:cNvPr id="5" name="Shape 2"/>
          <p:cNvSpPr/>
          <p:nvPr/>
        </p:nvSpPr>
        <p:spPr>
          <a:xfrm>
            <a:off x="3817144" y="1300646"/>
            <a:ext cx="55438" cy="55438"/>
          </a:xfrm>
          <a:prstGeom prst="roundRect">
            <a:avLst>
              <a:gd name="adj" fmla="val 515441"/>
            </a:avLst>
          </a:prstGeom>
          <a:solidFill>
            <a:srgbClr val="FFE14D"/>
          </a:solidFill>
          <a:ln/>
        </p:spPr>
        <p:txBody>
          <a:bodyPr/>
          <a:lstStyle/>
          <a:p>
            <a:endParaRPr lang="en-US"/>
          </a:p>
        </p:txBody>
      </p:sp>
      <p:sp>
        <p:nvSpPr>
          <p:cNvPr id="6" name="Text 3"/>
          <p:cNvSpPr/>
          <p:nvPr/>
        </p:nvSpPr>
        <p:spPr>
          <a:xfrm>
            <a:off x="3952280" y="1239664"/>
            <a:ext cx="2284363" cy="304800"/>
          </a:xfrm>
          <a:prstGeom prst="rect">
            <a:avLst/>
          </a:prstGeom>
          <a:noFill/>
          <a:ln/>
        </p:spPr>
        <p:txBody>
          <a:bodyPr wrap="square" lIns="0" tIns="0" rIns="0" bIns="0" rtlCol="0" anchor="t">
            <a:normAutofit/>
          </a:bodyPr>
          <a:lstStyle/>
          <a:p>
            <a:pPr marL="0" indent="0" algn="l">
              <a:lnSpc>
                <a:spcPct val="115000"/>
              </a:lnSpc>
              <a:buNone/>
            </a:pPr>
            <a:r>
              <a:rPr lang="en-US" sz="850" dirty="0">
                <a:solidFill>
                  <a:srgbClr val="D7D4CC"/>
                </a:solidFill>
                <a:latin typeface="Raleway Medium" pitchFamily="34" charset="0"/>
                <a:ea typeface="Raleway Medium" pitchFamily="34" charset="-122"/>
                <a:cs typeface="Raleway Medium" pitchFamily="34" charset="-120"/>
              </a:rPr>
              <a:t>Phong cách Dark-Theme kết hợp Cyberpunk với neon glow</a:t>
            </a:r>
            <a:endParaRPr lang="en-US" sz="850" dirty="0"/>
          </a:p>
        </p:txBody>
      </p:sp>
      <p:sp>
        <p:nvSpPr>
          <p:cNvPr id="7" name="Shape 4"/>
          <p:cNvSpPr/>
          <p:nvPr/>
        </p:nvSpPr>
        <p:spPr>
          <a:xfrm>
            <a:off x="6336283" y="1300646"/>
            <a:ext cx="55438" cy="55438"/>
          </a:xfrm>
          <a:prstGeom prst="roundRect">
            <a:avLst>
              <a:gd name="adj" fmla="val 515441"/>
            </a:avLst>
          </a:prstGeom>
          <a:solidFill>
            <a:srgbClr val="FFE14D"/>
          </a:solidFill>
          <a:ln/>
        </p:spPr>
        <p:txBody>
          <a:bodyPr/>
          <a:lstStyle/>
          <a:p>
            <a:endParaRPr lang="en-US"/>
          </a:p>
        </p:txBody>
      </p:sp>
      <p:sp>
        <p:nvSpPr>
          <p:cNvPr id="8" name="Text 5"/>
          <p:cNvSpPr/>
          <p:nvPr/>
        </p:nvSpPr>
        <p:spPr>
          <a:xfrm>
            <a:off x="6471419" y="1239664"/>
            <a:ext cx="2284437" cy="304800"/>
          </a:xfrm>
          <a:prstGeom prst="rect">
            <a:avLst/>
          </a:prstGeom>
          <a:noFill/>
          <a:ln/>
        </p:spPr>
        <p:txBody>
          <a:bodyPr wrap="square" lIns="0" tIns="0" rIns="0" bIns="0" rtlCol="0" anchor="t">
            <a:normAutofit/>
          </a:bodyPr>
          <a:lstStyle/>
          <a:p>
            <a:pPr marL="0" indent="0" algn="l">
              <a:lnSpc>
                <a:spcPct val="115000"/>
              </a:lnSpc>
              <a:buNone/>
            </a:pPr>
            <a:r>
              <a:rPr lang="en-US" sz="850" dirty="0">
                <a:solidFill>
                  <a:srgbClr val="D7D4CC"/>
                </a:solidFill>
                <a:latin typeface="Raleway Medium" pitchFamily="34" charset="0"/>
                <a:ea typeface="Raleway Medium" pitchFamily="34" charset="-122"/>
                <a:cs typeface="Raleway Medium" pitchFamily="34" charset="-120"/>
              </a:rPr>
              <a:t>Glassmorphism: Thẻ trong suốt với hiệu ứng blur</a:t>
            </a:r>
            <a:endParaRPr lang="en-US" sz="850" dirty="0"/>
          </a:p>
        </p:txBody>
      </p:sp>
      <p:sp>
        <p:nvSpPr>
          <p:cNvPr id="9" name="Shape 6"/>
          <p:cNvSpPr/>
          <p:nvPr/>
        </p:nvSpPr>
        <p:spPr>
          <a:xfrm>
            <a:off x="3817144" y="1764841"/>
            <a:ext cx="55438" cy="55438"/>
          </a:xfrm>
          <a:prstGeom prst="roundRect">
            <a:avLst>
              <a:gd name="adj" fmla="val 515441"/>
            </a:avLst>
          </a:prstGeom>
          <a:solidFill>
            <a:srgbClr val="FFE14D"/>
          </a:solidFill>
          <a:ln/>
        </p:spPr>
        <p:txBody>
          <a:bodyPr/>
          <a:lstStyle/>
          <a:p>
            <a:endParaRPr lang="en-US"/>
          </a:p>
        </p:txBody>
      </p:sp>
      <p:sp>
        <p:nvSpPr>
          <p:cNvPr id="10" name="Text 7"/>
          <p:cNvSpPr/>
          <p:nvPr/>
        </p:nvSpPr>
        <p:spPr>
          <a:xfrm>
            <a:off x="3952280" y="1703859"/>
            <a:ext cx="2284363" cy="457200"/>
          </a:xfrm>
          <a:prstGeom prst="rect">
            <a:avLst/>
          </a:prstGeom>
          <a:noFill/>
          <a:ln/>
        </p:spPr>
        <p:txBody>
          <a:bodyPr wrap="square" lIns="0" tIns="0" rIns="0" bIns="0" rtlCol="0" anchor="t">
            <a:normAutofit/>
          </a:bodyPr>
          <a:lstStyle/>
          <a:p>
            <a:pPr marL="0" indent="0" algn="l">
              <a:lnSpc>
                <a:spcPct val="115000"/>
              </a:lnSpc>
              <a:buNone/>
            </a:pPr>
            <a:r>
              <a:rPr lang="en-US" sz="850" dirty="0">
                <a:solidFill>
                  <a:srgbClr val="D7D4CC"/>
                </a:solidFill>
                <a:latin typeface="Raleway Medium" pitchFamily="34" charset="0"/>
                <a:ea typeface="Raleway Medium" pitchFamily="34" charset="-122"/>
                <a:cs typeface="Raleway Medium" pitchFamily="34" charset="-120"/>
              </a:rPr>
              <a:t>Màu chủ đạo: Dark mode (#0a0e14 - xanh đen sâu, Cyberpunk style), Light mode (#f0f4f8 - trắng xám nhạt)</a:t>
            </a:r>
            <a:endParaRPr lang="en-US" sz="850" dirty="0"/>
          </a:p>
        </p:txBody>
      </p:sp>
      <p:sp>
        <p:nvSpPr>
          <p:cNvPr id="11" name="Shape 8"/>
          <p:cNvSpPr/>
          <p:nvPr/>
        </p:nvSpPr>
        <p:spPr>
          <a:xfrm>
            <a:off x="6336283" y="1764841"/>
            <a:ext cx="55438" cy="55438"/>
          </a:xfrm>
          <a:prstGeom prst="roundRect">
            <a:avLst>
              <a:gd name="adj" fmla="val 515441"/>
            </a:avLst>
          </a:prstGeom>
          <a:solidFill>
            <a:srgbClr val="FFE14D"/>
          </a:solidFill>
          <a:ln/>
        </p:spPr>
        <p:txBody>
          <a:bodyPr/>
          <a:lstStyle/>
          <a:p>
            <a:endParaRPr lang="en-US"/>
          </a:p>
        </p:txBody>
      </p:sp>
      <p:sp>
        <p:nvSpPr>
          <p:cNvPr id="12" name="Text 9"/>
          <p:cNvSpPr/>
          <p:nvPr/>
        </p:nvSpPr>
        <p:spPr>
          <a:xfrm>
            <a:off x="6471419" y="1703859"/>
            <a:ext cx="2284437" cy="304800"/>
          </a:xfrm>
          <a:prstGeom prst="rect">
            <a:avLst/>
          </a:prstGeom>
          <a:noFill/>
          <a:ln/>
        </p:spPr>
        <p:txBody>
          <a:bodyPr wrap="square" lIns="0" tIns="0" rIns="0" bIns="0" rtlCol="0" anchor="t">
            <a:normAutofit/>
          </a:bodyPr>
          <a:lstStyle/>
          <a:p>
            <a:pPr marL="0" indent="0" algn="l">
              <a:lnSpc>
                <a:spcPct val="115000"/>
              </a:lnSpc>
              <a:buNone/>
            </a:pPr>
            <a:r>
              <a:rPr lang="en-US" sz="850" dirty="0">
                <a:solidFill>
                  <a:srgbClr val="D7D4CC"/>
                </a:solidFill>
                <a:latin typeface="Raleway Medium" pitchFamily="34" charset="0"/>
                <a:ea typeface="Raleway Medium" pitchFamily="34" charset="-122"/>
                <a:cs typeface="Raleway Medium" pitchFamily="34" charset="-120"/>
              </a:rPr>
              <a:t>Tương tác vi mô: Hover effects, glow animations</a:t>
            </a:r>
            <a:endParaRPr lang="en-US" sz="850" dirty="0"/>
          </a:p>
        </p:txBody>
      </p:sp>
      <p:sp>
        <p:nvSpPr>
          <p:cNvPr id="13" name="Shape 10"/>
          <p:cNvSpPr/>
          <p:nvPr/>
        </p:nvSpPr>
        <p:spPr>
          <a:xfrm>
            <a:off x="3817144" y="2381436"/>
            <a:ext cx="55438" cy="55438"/>
          </a:xfrm>
          <a:prstGeom prst="roundRect">
            <a:avLst>
              <a:gd name="adj" fmla="val 515441"/>
            </a:avLst>
          </a:prstGeom>
          <a:solidFill>
            <a:srgbClr val="FFE14D"/>
          </a:solidFill>
          <a:ln/>
        </p:spPr>
        <p:txBody>
          <a:bodyPr/>
          <a:lstStyle/>
          <a:p>
            <a:endParaRPr lang="en-US"/>
          </a:p>
        </p:txBody>
      </p:sp>
      <p:sp>
        <p:nvSpPr>
          <p:cNvPr id="14" name="Text 11"/>
          <p:cNvSpPr/>
          <p:nvPr/>
        </p:nvSpPr>
        <p:spPr>
          <a:xfrm>
            <a:off x="3952280" y="2320454"/>
            <a:ext cx="4803577" cy="152400"/>
          </a:xfrm>
          <a:prstGeom prst="rect">
            <a:avLst/>
          </a:prstGeom>
          <a:noFill/>
          <a:ln/>
        </p:spPr>
        <p:txBody>
          <a:bodyPr wrap="none" lIns="0" tIns="0" rIns="0" bIns="0" rtlCol="0" anchor="t"/>
          <a:lstStyle/>
          <a:p>
            <a:pPr marL="0" indent="0" algn="l">
              <a:lnSpc>
                <a:spcPct val="115000"/>
              </a:lnSpc>
              <a:buNone/>
            </a:pPr>
            <a:r>
              <a:rPr lang="en-US" sz="850" dirty="0">
                <a:solidFill>
                  <a:srgbClr val="D7D4CC"/>
                </a:solidFill>
                <a:latin typeface="Raleway Medium" pitchFamily="34" charset="0"/>
                <a:ea typeface="Raleway Medium" pitchFamily="34" charset="-122"/>
                <a:cs typeface="Raleway Medium" pitchFamily="34" charset="-120"/>
              </a:rPr>
              <a:t>Trực quan &amp; hiện đại: Tối ưu trải nghiệm người dùng</a:t>
            </a:r>
            <a:endParaRPr lang="en-US" sz="850" dirty="0"/>
          </a:p>
        </p:txBody>
      </p:sp>
      <p:sp>
        <p:nvSpPr>
          <p:cNvPr id="15" name="Text 12"/>
          <p:cNvSpPr/>
          <p:nvPr/>
        </p:nvSpPr>
        <p:spPr>
          <a:xfrm>
            <a:off x="3817144" y="2592363"/>
            <a:ext cx="2156520" cy="154037"/>
          </a:xfrm>
          <a:prstGeom prst="rect">
            <a:avLst/>
          </a:prstGeom>
          <a:noFill/>
          <a:ln/>
        </p:spPr>
        <p:txBody>
          <a:bodyPr wrap="none" lIns="0" tIns="0" rIns="0" bIns="0" rtlCol="0" anchor="t"/>
          <a:lstStyle/>
          <a:p>
            <a:pPr marL="0" indent="0" algn="l">
              <a:lnSpc>
                <a:spcPct val="104000"/>
              </a:lnSpc>
              <a:buNone/>
            </a:pPr>
            <a:r>
              <a:rPr lang="en-US" sz="950" b="1" dirty="0">
                <a:solidFill>
                  <a:srgbClr val="FFE14D"/>
                </a:solidFill>
                <a:latin typeface="Comfortaa Bold" pitchFamily="34" charset="0"/>
                <a:ea typeface="Comfortaa Bold" pitchFamily="34" charset="-122"/>
                <a:cs typeface="Comfortaa Bold" pitchFamily="34" charset="-120"/>
              </a:rPr>
              <a:t>Thành phần thiết kế chính</a:t>
            </a:r>
            <a:endParaRPr lang="en-US" sz="950" dirty="0"/>
          </a:p>
        </p:txBody>
      </p:sp>
      <p:sp>
        <p:nvSpPr>
          <p:cNvPr id="16" name="Text 13"/>
          <p:cNvSpPr/>
          <p:nvPr/>
        </p:nvSpPr>
        <p:spPr>
          <a:xfrm>
            <a:off x="3817144" y="2865909"/>
            <a:ext cx="4938712" cy="693093"/>
          </a:xfrm>
          <a:prstGeom prst="rect">
            <a:avLst/>
          </a:prstGeom>
          <a:noFill/>
          <a:ln/>
        </p:spPr>
        <p:txBody>
          <a:bodyPr wrap="square" lIns="0" tIns="0" rIns="0" bIns="0" rtlCol="0" anchor="t">
            <a:normAutofit/>
          </a:bodyPr>
          <a:lstStyle/>
          <a:p>
            <a:pPr marL="342900" indent="-342900" algn="l">
              <a:lnSpc>
                <a:spcPct val="115000"/>
              </a:lnSpc>
              <a:buSzPct val="100000"/>
              <a:buChar char="•"/>
            </a:pPr>
            <a:r>
              <a:rPr lang="en-US" sz="850" dirty="0">
                <a:solidFill>
                  <a:srgbClr val="D7D4CC"/>
                </a:solidFill>
                <a:latin typeface="Raleway Medium" pitchFamily="34" charset="0"/>
                <a:ea typeface="Raleway Medium" pitchFamily="34" charset="-122"/>
                <a:cs typeface="Raleway Medium" pitchFamily="34" charset="-120"/>
              </a:rPr>
              <a:t>Navbar: Menu điều hướng với logo và cart indicator</a:t>
            </a:r>
            <a:endParaRPr lang="en-US" sz="850" dirty="0"/>
          </a:p>
          <a:p>
            <a:pPr marL="342900" indent="-342900" algn="l">
              <a:lnSpc>
                <a:spcPct val="115000"/>
              </a:lnSpc>
              <a:buSzPct val="100000"/>
              <a:buChar char="•"/>
            </a:pPr>
            <a:r>
              <a:rPr lang="en-US" sz="850" dirty="0">
                <a:solidFill>
                  <a:srgbClr val="D7D4CC"/>
                </a:solidFill>
                <a:latin typeface="Raleway Medium" pitchFamily="34" charset="0"/>
                <a:ea typeface="Raleway Medium" pitchFamily="34" charset="-122"/>
                <a:cs typeface="Raleway Medium" pitchFamily="34" charset="-120"/>
              </a:rPr>
              <a:t>Product Cards: Thẻ sản phẩm với hình ảnh, giá, nút thêm vào giỏ</a:t>
            </a:r>
            <a:endParaRPr lang="en-US" sz="850" dirty="0"/>
          </a:p>
          <a:p>
            <a:pPr marL="342900" indent="-342900" algn="l">
              <a:lnSpc>
                <a:spcPct val="115000"/>
              </a:lnSpc>
              <a:buSzPct val="100000"/>
              <a:buChar char="•"/>
            </a:pPr>
            <a:r>
              <a:rPr lang="en-US" sz="850" dirty="0">
                <a:solidFill>
                  <a:srgbClr val="D7D4CC"/>
                </a:solidFill>
                <a:latin typeface="Raleway Medium" pitchFamily="34" charset="0"/>
                <a:ea typeface="Raleway Medium" pitchFamily="34" charset="-122"/>
                <a:cs typeface="Raleway Medium" pitchFamily="34" charset="-120"/>
              </a:rPr>
              <a:t>Hero Banner: Ảnh nền lớn với text overlay</a:t>
            </a:r>
            <a:endParaRPr lang="en-US" sz="850" dirty="0"/>
          </a:p>
          <a:p>
            <a:pPr marL="342900" indent="-342900" algn="l">
              <a:lnSpc>
                <a:spcPct val="115000"/>
              </a:lnSpc>
              <a:buSzPct val="100000"/>
              <a:buChar char="•"/>
            </a:pPr>
            <a:r>
              <a:rPr lang="en-US" sz="850" dirty="0">
                <a:solidFill>
                  <a:srgbClr val="D7D4CC"/>
                </a:solidFill>
                <a:latin typeface="Raleway Medium" pitchFamily="34" charset="0"/>
                <a:ea typeface="Raleway Medium" pitchFamily="34" charset="-122"/>
                <a:cs typeface="Raleway Medium" pitchFamily="34" charset="-120"/>
              </a:rPr>
              <a:t>Footer: Thông tin liên hệ và link nhanh</a:t>
            </a:r>
            <a:endParaRPr lang="en-US" sz="850" dirty="0"/>
          </a:p>
        </p:txBody>
      </p:sp>
      <p:sp>
        <p:nvSpPr>
          <p:cNvPr id="17" name="Text 14"/>
          <p:cNvSpPr/>
          <p:nvPr/>
        </p:nvSpPr>
        <p:spPr>
          <a:xfrm>
            <a:off x="3817144" y="3678510"/>
            <a:ext cx="1689497" cy="154037"/>
          </a:xfrm>
          <a:prstGeom prst="rect">
            <a:avLst/>
          </a:prstGeom>
          <a:noFill/>
          <a:ln/>
        </p:spPr>
        <p:txBody>
          <a:bodyPr wrap="none" lIns="0" tIns="0" rIns="0" bIns="0" rtlCol="0" anchor="t"/>
          <a:lstStyle/>
          <a:p>
            <a:pPr marL="0" indent="0" algn="l">
              <a:lnSpc>
                <a:spcPct val="104000"/>
              </a:lnSpc>
              <a:buNone/>
            </a:pPr>
            <a:r>
              <a:rPr lang="en-US" sz="950" b="1" dirty="0">
                <a:solidFill>
                  <a:srgbClr val="FFE14D"/>
                </a:solidFill>
                <a:latin typeface="Comfortaa Bold" pitchFamily="34" charset="0"/>
                <a:ea typeface="Comfortaa Bold" pitchFamily="34" charset="-122"/>
                <a:cs typeface="Comfortaa Bold" pitchFamily="34" charset="-120"/>
              </a:rPr>
              <a:t>Cấu hình Màu sắc</a:t>
            </a:r>
            <a:endParaRPr lang="en-US" sz="950" dirty="0"/>
          </a:p>
        </p:txBody>
      </p:sp>
      <p:sp>
        <p:nvSpPr>
          <p:cNvPr id="18" name="Text 15"/>
          <p:cNvSpPr/>
          <p:nvPr/>
        </p:nvSpPr>
        <p:spPr>
          <a:xfrm>
            <a:off x="3817144" y="3952056"/>
            <a:ext cx="4938712" cy="873323"/>
          </a:xfrm>
          <a:prstGeom prst="rect">
            <a:avLst/>
          </a:prstGeom>
          <a:noFill/>
          <a:ln/>
        </p:spPr>
        <p:txBody>
          <a:bodyPr wrap="square" lIns="0" tIns="0" rIns="0" bIns="0" rtlCol="0" anchor="t">
            <a:normAutofit/>
          </a:bodyPr>
          <a:lstStyle/>
          <a:p>
            <a:pPr marL="342900" indent="-342900" algn="l">
              <a:lnSpc>
                <a:spcPct val="115000"/>
              </a:lnSpc>
              <a:buSzPct val="100000"/>
              <a:buChar char="•"/>
            </a:pPr>
            <a:r>
              <a:rPr lang="en-US" sz="850" dirty="0">
                <a:solidFill>
                  <a:srgbClr val="D7D4CC"/>
                </a:solidFill>
                <a:latin typeface="Raleway Medium" pitchFamily="34" charset="0"/>
                <a:ea typeface="Raleway Medium" pitchFamily="34" charset="-122"/>
                <a:cs typeface="Raleway Medium" pitchFamily="34" charset="-120"/>
              </a:rPr>
              <a:t>Dark theme: Nền #0a0e14, Card #151b26, Text #f0f6fc, Accent #ffd44d</a:t>
            </a:r>
            <a:endParaRPr lang="en-US" sz="850" dirty="0"/>
          </a:p>
          <a:p>
            <a:pPr marL="342900" indent="-342900" algn="l">
              <a:lnSpc>
                <a:spcPct val="115000"/>
              </a:lnSpc>
              <a:buSzPct val="100000"/>
              <a:buChar char="•"/>
            </a:pPr>
            <a:r>
              <a:rPr lang="en-US" sz="850" dirty="0">
                <a:solidFill>
                  <a:srgbClr val="D7D4CC"/>
                </a:solidFill>
                <a:latin typeface="Raleway Medium" pitchFamily="34" charset="0"/>
                <a:ea typeface="Raleway Medium" pitchFamily="34" charset="-122"/>
                <a:cs typeface="Raleway Medium" pitchFamily="34" charset="-120"/>
              </a:rPr>
              <a:t>Light theme: Nền #f0f4f8, Card #ffffff, Text #1a1e2e, Accent #ffd44d</a:t>
            </a:r>
            <a:endParaRPr lang="en-US" sz="850" dirty="0"/>
          </a:p>
          <a:p>
            <a:pPr marL="342900" indent="-342900" algn="l">
              <a:lnSpc>
                <a:spcPct val="115000"/>
              </a:lnSpc>
              <a:buSzPct val="100000"/>
              <a:buChar char="•"/>
            </a:pPr>
            <a:r>
              <a:rPr lang="en-US" sz="850" dirty="0">
                <a:solidFill>
                  <a:srgbClr val="D7D4CC"/>
                </a:solidFill>
                <a:latin typeface="Raleway Medium" pitchFamily="34" charset="0"/>
                <a:ea typeface="Raleway Medium" pitchFamily="34" charset="-122"/>
                <a:cs typeface="Raleway Medium" pitchFamily="34" charset="-120"/>
              </a:rPr>
              <a:t>Color Palette: Red (#cc0000), Cyan (#00e5ff), Yellow (#ffd44d)</a:t>
            </a:r>
            <a:endParaRPr lang="en-US" sz="850" dirty="0"/>
          </a:p>
          <a:p>
            <a:pPr marL="342900" indent="-342900" algn="l">
              <a:lnSpc>
                <a:spcPct val="115000"/>
              </a:lnSpc>
              <a:buSzPct val="100000"/>
              <a:buChar char="•"/>
            </a:pPr>
            <a:r>
              <a:rPr lang="en-US" sz="850" dirty="0">
                <a:solidFill>
                  <a:srgbClr val="D7D4CC"/>
                </a:solidFill>
                <a:latin typeface="Raleway Medium" pitchFamily="34" charset="0"/>
                <a:ea typeface="Raleway Medium" pitchFamily="34" charset="-122"/>
                <a:cs typeface="Raleway Medium" pitchFamily="34" charset="-120"/>
              </a:rPr>
              <a:t>Transition smooth: CSS transition 0.3s cho hiệu ứng mượt mà</a:t>
            </a:r>
            <a:endParaRPr lang="en-US" sz="850" dirty="0"/>
          </a:p>
          <a:p>
            <a:pPr marL="342900" indent="-342900" algn="l">
              <a:lnSpc>
                <a:spcPct val="115000"/>
              </a:lnSpc>
              <a:buSzPct val="100000"/>
              <a:buChar char="•"/>
            </a:pPr>
            <a:r>
              <a:rPr lang="en-US" sz="850" dirty="0">
                <a:solidFill>
                  <a:srgbClr val="D7D4CC"/>
                </a:solidFill>
                <a:latin typeface="Raleway Medium" pitchFamily="34" charset="0"/>
                <a:ea typeface="Raleway Medium" pitchFamily="34" charset="-122"/>
                <a:cs typeface="Raleway Medium" pitchFamily="34" charset="-120"/>
              </a:rPr>
              <a:t>Glassmorphism: backdrop-filter: blur(10px) cho cả 2 theme</a:t>
            </a:r>
            <a:endParaRPr lang="en-US" sz="850" dirty="0"/>
          </a:p>
        </p:txBody>
      </p:sp>
      <p:sp>
        <p:nvSpPr>
          <p:cNvPr id="19" name="Rectangle 18">
            <a:extLst>
              <a:ext uri="{FF2B5EF4-FFF2-40B4-BE49-F238E27FC236}">
                <a16:creationId xmlns:a16="http://schemas.microsoft.com/office/drawing/2014/main" id="{75C5F7F7-02D0-3408-8DC3-1C4418B8F898}"/>
              </a:ext>
            </a:extLst>
          </p:cNvPr>
          <p:cNvSpPr/>
          <p:nvPr/>
        </p:nvSpPr>
        <p:spPr>
          <a:xfrm>
            <a:off x="8023122" y="4855146"/>
            <a:ext cx="1120877" cy="288354"/>
          </a:xfrm>
          <a:prstGeom prst="rect">
            <a:avLst/>
          </a:prstGeom>
          <a:solidFill>
            <a:srgbClr val="27272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1776980" y="394172"/>
            <a:ext cx="4193167" cy="616148"/>
          </a:xfrm>
          <a:prstGeom prst="rect">
            <a:avLst/>
          </a:prstGeom>
          <a:noFill/>
          <a:ln/>
        </p:spPr>
        <p:txBody>
          <a:bodyPr wrap="square" lIns="0" tIns="0" rIns="0" bIns="0" rtlCol="0" anchor="t">
            <a:normAutofit/>
          </a:bodyPr>
          <a:lstStyle/>
          <a:p>
            <a:pPr marL="0" indent="0" algn="l">
              <a:lnSpc>
                <a:spcPct val="104000"/>
              </a:lnSpc>
              <a:buNone/>
            </a:pPr>
            <a:r>
              <a:rPr lang="en-US" sz="1900" b="1" dirty="0">
                <a:solidFill>
                  <a:srgbClr val="FFE14D"/>
                </a:solidFill>
                <a:latin typeface="Comfortaa Bold" pitchFamily="34" charset="0"/>
                <a:ea typeface="Comfortaa Bold" pitchFamily="34" charset="-122"/>
                <a:cs typeface="Comfortaa Bold" pitchFamily="34" charset="-120"/>
              </a:rPr>
              <a:t>Cấu trúc HTML/CSS — Layout &amp; Responsive Design</a:t>
            </a:r>
            <a:endParaRPr lang="en-US" sz="1900" dirty="0"/>
          </a:p>
        </p:txBody>
      </p:sp>
      <p:grpSp>
        <p:nvGrpSpPr>
          <p:cNvPr id="17" name="Group 16">
            <a:extLst>
              <a:ext uri="{FF2B5EF4-FFF2-40B4-BE49-F238E27FC236}">
                <a16:creationId xmlns:a16="http://schemas.microsoft.com/office/drawing/2014/main" id="{EC505D5A-1F79-5D41-4939-FD7F588282EF}"/>
              </a:ext>
            </a:extLst>
          </p:cNvPr>
          <p:cNvGrpSpPr/>
          <p:nvPr/>
        </p:nvGrpSpPr>
        <p:grpSpPr>
          <a:xfrm>
            <a:off x="1762693" y="1135485"/>
            <a:ext cx="4938712" cy="3719661"/>
            <a:chOff x="388144" y="1079748"/>
            <a:chExt cx="4938712" cy="3719661"/>
          </a:xfrm>
        </p:grpSpPr>
        <p:sp>
          <p:nvSpPr>
            <p:cNvPr id="4" name="Shape 1"/>
            <p:cNvSpPr/>
            <p:nvPr/>
          </p:nvSpPr>
          <p:spPr>
            <a:xfrm>
              <a:off x="388144" y="1079748"/>
              <a:ext cx="4938712" cy="1297632"/>
            </a:xfrm>
            <a:prstGeom prst="roundRect">
              <a:avLst>
                <a:gd name="adj" fmla="val 12820"/>
              </a:avLst>
            </a:prstGeom>
            <a:solidFill>
              <a:srgbClr val="27272B"/>
            </a:solidFill>
            <a:ln w="14288">
              <a:solidFill>
                <a:srgbClr val="5F5F63"/>
              </a:solidFill>
              <a:prstDash val="solid"/>
            </a:ln>
          </p:spPr>
          <p:txBody>
            <a:bodyPr/>
            <a:lstStyle/>
            <a:p>
              <a:endParaRPr lang="en-US"/>
            </a:p>
          </p:txBody>
        </p:sp>
        <p:sp>
          <p:nvSpPr>
            <p:cNvPr id="5" name="Shape 2"/>
            <p:cNvSpPr/>
            <p:nvPr/>
          </p:nvSpPr>
          <p:spPr>
            <a:xfrm>
              <a:off x="402431" y="1094036"/>
              <a:ext cx="443582" cy="1269057"/>
            </a:xfrm>
            <a:prstGeom prst="roundRect">
              <a:avLst>
                <a:gd name="adj" fmla="val 33639"/>
              </a:avLst>
            </a:prstGeom>
            <a:solidFill>
              <a:srgbClr val="46464A"/>
            </a:solidFill>
            <a:ln/>
          </p:spPr>
          <p:txBody>
            <a:bodyPr/>
            <a:lstStyle/>
            <a:p>
              <a:endParaRPr lang="en-US"/>
            </a:p>
          </p:txBody>
        </p:sp>
        <p:sp>
          <p:nvSpPr>
            <p:cNvPr id="6" name="Text 3"/>
            <p:cNvSpPr/>
            <p:nvPr/>
          </p:nvSpPr>
          <p:spPr>
            <a:xfrm>
              <a:off x="925711" y="1204913"/>
              <a:ext cx="1232297" cy="154037"/>
            </a:xfrm>
            <a:prstGeom prst="rect">
              <a:avLst/>
            </a:prstGeom>
            <a:noFill/>
            <a:ln/>
          </p:spPr>
          <p:txBody>
            <a:bodyPr wrap="none" lIns="0" tIns="0" rIns="0" bIns="0" rtlCol="0" anchor="t"/>
            <a:lstStyle/>
            <a:p>
              <a:pPr marL="0" indent="0" algn="l">
                <a:lnSpc>
                  <a:spcPct val="104000"/>
                </a:lnSpc>
                <a:buNone/>
              </a:pPr>
              <a:r>
                <a:rPr lang="en-US" sz="950" b="1" dirty="0">
                  <a:solidFill>
                    <a:srgbClr val="D7D4CC"/>
                  </a:solidFill>
                  <a:latin typeface="Comfortaa Bold" pitchFamily="34" charset="0"/>
                  <a:ea typeface="Comfortaa Bold" pitchFamily="34" charset="-122"/>
                  <a:cs typeface="Comfortaa Bold" pitchFamily="34" charset="-120"/>
                </a:rPr>
                <a:t>Kiến trúc HTML</a:t>
              </a:r>
              <a:endParaRPr lang="en-US" sz="950" dirty="0"/>
            </a:p>
          </p:txBody>
        </p:sp>
        <p:sp>
          <p:nvSpPr>
            <p:cNvPr id="7" name="Text 4"/>
            <p:cNvSpPr/>
            <p:nvPr/>
          </p:nvSpPr>
          <p:spPr>
            <a:xfrm>
              <a:off x="925711" y="1406723"/>
              <a:ext cx="4275981" cy="845493"/>
            </a:xfrm>
            <a:prstGeom prst="rect">
              <a:avLst/>
            </a:prstGeom>
            <a:noFill/>
            <a:ln/>
          </p:spPr>
          <p:txBody>
            <a:bodyPr wrap="square" lIns="0" tIns="0" rIns="0" bIns="0" rtlCol="0" anchor="t">
              <a:normAutofit/>
            </a:bodyPr>
            <a:lstStyle/>
            <a:p>
              <a:pPr marL="342900" indent="-342900" algn="l">
                <a:lnSpc>
                  <a:spcPct val="115000"/>
                </a:lnSpc>
                <a:buSzPct val="100000"/>
                <a:buChar char="•"/>
              </a:pPr>
              <a:r>
                <a:rPr lang="en-US" sz="850" dirty="0">
                  <a:solidFill>
                    <a:srgbClr val="D7D4CC"/>
                  </a:solidFill>
                  <a:latin typeface="Raleway Medium" pitchFamily="34" charset="0"/>
                  <a:ea typeface="Raleway Medium" pitchFamily="34" charset="-122"/>
                  <a:cs typeface="Raleway Medium" pitchFamily="34" charset="-120"/>
                </a:rPr>
                <a:t>Sử dụng HTML5 semantic tags (header, nav, main, section, footer)</a:t>
              </a:r>
              <a:endParaRPr lang="en-US" sz="850" dirty="0"/>
            </a:p>
            <a:p>
              <a:pPr marL="342900" indent="-342900" algn="l">
                <a:lnSpc>
                  <a:spcPct val="115000"/>
                </a:lnSpc>
                <a:buSzPct val="100000"/>
                <a:buChar char="•"/>
              </a:pPr>
              <a:r>
                <a:rPr lang="en-US" sz="850" dirty="0">
                  <a:solidFill>
                    <a:srgbClr val="D7D4CC"/>
                  </a:solidFill>
                  <a:latin typeface="Raleway Medium" pitchFamily="34" charset="0"/>
                  <a:ea typeface="Raleway Medium" pitchFamily="34" charset="-122"/>
                  <a:cs typeface="Raleway Medium" pitchFamily="34" charset="-120"/>
                </a:rPr>
                <a:t>Cấu trúc trang: index.html, pages/trang-chu.html, pages/chi-tiet/chi-tiet-san-pham.html</a:t>
              </a:r>
              <a:endParaRPr lang="en-US" sz="850" dirty="0"/>
            </a:p>
            <a:p>
              <a:pPr marL="342900" indent="-342900" algn="l">
                <a:lnSpc>
                  <a:spcPct val="115000"/>
                </a:lnSpc>
                <a:buSzPct val="100000"/>
                <a:buChar char="•"/>
              </a:pPr>
              <a:r>
                <a:rPr lang="en-US" sz="850" dirty="0">
                  <a:solidFill>
                    <a:srgbClr val="D7D4CC"/>
                  </a:solidFill>
                  <a:latin typeface="Raleway Medium" pitchFamily="34" charset="0"/>
                  <a:ea typeface="Raleway Medium" pitchFamily="34" charset="-122"/>
                  <a:cs typeface="Raleway Medium" pitchFamily="34" charset="-120"/>
                </a:rPr>
                <a:t>Form đăng nhập/đăng ký tại pages/dang-nhap.html</a:t>
              </a:r>
              <a:endParaRPr lang="en-US" sz="850" dirty="0"/>
            </a:p>
            <a:p>
              <a:pPr marL="342900" indent="-342900" algn="l">
                <a:lnSpc>
                  <a:spcPct val="115000"/>
                </a:lnSpc>
                <a:buSzPct val="100000"/>
                <a:buChar char="•"/>
              </a:pPr>
              <a:r>
                <a:rPr lang="en-US" sz="850" dirty="0">
                  <a:solidFill>
                    <a:srgbClr val="D7D4CC"/>
                  </a:solidFill>
                  <a:latin typeface="Raleway Medium" pitchFamily="34" charset="0"/>
                  <a:ea typeface="Raleway Medium" pitchFamily="34" charset="-122"/>
                  <a:cs typeface="Raleway Medium" pitchFamily="34" charset="-120"/>
                </a:rPr>
                <a:t>Tổ chức file: assets/css/, assets/js/, assets/images/</a:t>
              </a:r>
              <a:endParaRPr lang="en-US" sz="850" dirty="0"/>
            </a:p>
          </p:txBody>
        </p:sp>
        <p:sp>
          <p:nvSpPr>
            <p:cNvPr id="8" name="Shape 5"/>
            <p:cNvSpPr/>
            <p:nvPr/>
          </p:nvSpPr>
          <p:spPr>
            <a:xfrm>
              <a:off x="388144" y="2457078"/>
              <a:ext cx="4938712" cy="965002"/>
            </a:xfrm>
            <a:prstGeom prst="roundRect">
              <a:avLst>
                <a:gd name="adj" fmla="val 17239"/>
              </a:avLst>
            </a:prstGeom>
            <a:solidFill>
              <a:srgbClr val="27272B"/>
            </a:solidFill>
            <a:ln w="14288">
              <a:solidFill>
                <a:srgbClr val="5F5F63"/>
              </a:solidFill>
              <a:prstDash val="solid"/>
            </a:ln>
          </p:spPr>
          <p:txBody>
            <a:bodyPr/>
            <a:lstStyle/>
            <a:p>
              <a:endParaRPr lang="en-US"/>
            </a:p>
          </p:txBody>
        </p:sp>
        <p:sp>
          <p:nvSpPr>
            <p:cNvPr id="9" name="Shape 6"/>
            <p:cNvSpPr/>
            <p:nvPr/>
          </p:nvSpPr>
          <p:spPr>
            <a:xfrm>
              <a:off x="402431" y="2471365"/>
              <a:ext cx="443582" cy="936427"/>
            </a:xfrm>
            <a:prstGeom prst="roundRect">
              <a:avLst>
                <a:gd name="adj" fmla="val 33639"/>
              </a:avLst>
            </a:prstGeom>
            <a:solidFill>
              <a:srgbClr val="46464A"/>
            </a:solidFill>
            <a:ln/>
          </p:spPr>
          <p:txBody>
            <a:bodyPr/>
            <a:lstStyle/>
            <a:p>
              <a:endParaRPr lang="en-US"/>
            </a:p>
          </p:txBody>
        </p:sp>
        <p:sp>
          <p:nvSpPr>
            <p:cNvPr id="10" name="Text 7"/>
            <p:cNvSpPr/>
            <p:nvPr/>
          </p:nvSpPr>
          <p:spPr>
            <a:xfrm>
              <a:off x="925711" y="2582242"/>
              <a:ext cx="1569988" cy="154037"/>
            </a:xfrm>
            <a:prstGeom prst="rect">
              <a:avLst/>
            </a:prstGeom>
            <a:noFill/>
            <a:ln/>
          </p:spPr>
          <p:txBody>
            <a:bodyPr wrap="none" lIns="0" tIns="0" rIns="0" bIns="0" rtlCol="0" anchor="t"/>
            <a:lstStyle/>
            <a:p>
              <a:pPr marL="0" indent="0" algn="l">
                <a:lnSpc>
                  <a:spcPct val="104000"/>
                </a:lnSpc>
                <a:buNone/>
              </a:pPr>
              <a:r>
                <a:rPr lang="en-US" sz="950" b="1" dirty="0">
                  <a:solidFill>
                    <a:srgbClr val="D7D4CC"/>
                  </a:solidFill>
                  <a:latin typeface="Comfortaa Bold" pitchFamily="34" charset="0"/>
                  <a:ea typeface="Comfortaa Bold" pitchFamily="34" charset="-122"/>
                  <a:cs typeface="Comfortaa Bold" pitchFamily="34" charset="-120"/>
                </a:rPr>
                <a:t>Bootstrap 5 Grid System</a:t>
              </a:r>
              <a:endParaRPr lang="en-US" sz="950" dirty="0"/>
            </a:p>
          </p:txBody>
        </p:sp>
        <p:sp>
          <p:nvSpPr>
            <p:cNvPr id="11" name="Text 8"/>
            <p:cNvSpPr/>
            <p:nvPr/>
          </p:nvSpPr>
          <p:spPr>
            <a:xfrm>
              <a:off x="925711" y="2784053"/>
              <a:ext cx="4275981" cy="512862"/>
            </a:xfrm>
            <a:prstGeom prst="rect">
              <a:avLst/>
            </a:prstGeom>
            <a:noFill/>
            <a:ln/>
          </p:spPr>
          <p:txBody>
            <a:bodyPr wrap="square" lIns="0" tIns="0" rIns="0" bIns="0" rtlCol="0" anchor="t">
              <a:normAutofit/>
            </a:bodyPr>
            <a:lstStyle/>
            <a:p>
              <a:pPr marL="342900" indent="-342900" algn="l">
                <a:lnSpc>
                  <a:spcPct val="115000"/>
                </a:lnSpc>
                <a:buSzPct val="100000"/>
                <a:buChar char="•"/>
              </a:pPr>
              <a:r>
                <a:rPr lang="en-US" sz="850" dirty="0">
                  <a:solidFill>
                    <a:srgbClr val="D7D4CC"/>
                  </a:solidFill>
                  <a:latin typeface="Raleway Medium" pitchFamily="34" charset="0"/>
                  <a:ea typeface="Raleway Medium" pitchFamily="34" charset="-122"/>
                  <a:cs typeface="Raleway Medium" pitchFamily="34" charset="-120"/>
                </a:rPr>
                <a:t>Container, Row, Col (col-lg, col-md, col-12) cho layout linh hoạt</a:t>
              </a:r>
              <a:endParaRPr lang="en-US" sz="850" dirty="0"/>
            </a:p>
            <a:p>
              <a:pPr marL="342900" indent="-342900" algn="l">
                <a:lnSpc>
                  <a:spcPct val="115000"/>
                </a:lnSpc>
                <a:buSzPct val="100000"/>
                <a:buChar char="•"/>
              </a:pPr>
              <a:r>
                <a:rPr lang="en-US" sz="850" dirty="0">
                  <a:solidFill>
                    <a:srgbClr val="D7D4CC"/>
                  </a:solidFill>
                  <a:latin typeface="Raleway Medium" pitchFamily="34" charset="0"/>
                  <a:ea typeface="Raleway Medium" pitchFamily="34" charset="-122"/>
                  <a:cs typeface="Raleway Medium" pitchFamily="34" charset="-120"/>
                </a:rPr>
                <a:t>Navbar, Card, Carousel components</a:t>
              </a:r>
              <a:endParaRPr lang="en-US" sz="850" dirty="0"/>
            </a:p>
            <a:p>
              <a:pPr marL="342900" indent="-342900" algn="l">
                <a:lnSpc>
                  <a:spcPct val="115000"/>
                </a:lnSpc>
                <a:buSzPct val="100000"/>
                <a:buChar char="•"/>
              </a:pPr>
              <a:r>
                <a:rPr lang="en-US" sz="850" dirty="0">
                  <a:solidFill>
                    <a:srgbClr val="D7D4CC"/>
                  </a:solidFill>
                  <a:latin typeface="Raleway Medium" pitchFamily="34" charset="0"/>
                  <a:ea typeface="Raleway Medium" pitchFamily="34" charset="-122"/>
                  <a:cs typeface="Raleway Medium" pitchFamily="34" charset="-120"/>
                </a:rPr>
                <a:t>Tối ưu thời gian phát triển</a:t>
              </a:r>
              <a:endParaRPr lang="en-US" sz="850" dirty="0"/>
            </a:p>
          </p:txBody>
        </p:sp>
        <p:sp>
          <p:nvSpPr>
            <p:cNvPr id="12" name="Shape 9"/>
            <p:cNvSpPr/>
            <p:nvPr/>
          </p:nvSpPr>
          <p:spPr>
            <a:xfrm>
              <a:off x="388144" y="3501777"/>
              <a:ext cx="4938712" cy="1297632"/>
            </a:xfrm>
            <a:prstGeom prst="roundRect">
              <a:avLst>
                <a:gd name="adj" fmla="val 12820"/>
              </a:avLst>
            </a:prstGeom>
            <a:solidFill>
              <a:srgbClr val="27272B"/>
            </a:solidFill>
            <a:ln w="14288">
              <a:solidFill>
                <a:srgbClr val="5F5F63"/>
              </a:solidFill>
              <a:prstDash val="solid"/>
            </a:ln>
          </p:spPr>
          <p:txBody>
            <a:bodyPr/>
            <a:lstStyle/>
            <a:p>
              <a:endParaRPr lang="en-US"/>
            </a:p>
          </p:txBody>
        </p:sp>
        <p:sp>
          <p:nvSpPr>
            <p:cNvPr id="13" name="Shape 10"/>
            <p:cNvSpPr/>
            <p:nvPr/>
          </p:nvSpPr>
          <p:spPr>
            <a:xfrm>
              <a:off x="402431" y="3516064"/>
              <a:ext cx="443582" cy="1269057"/>
            </a:xfrm>
            <a:prstGeom prst="roundRect">
              <a:avLst>
                <a:gd name="adj" fmla="val 33639"/>
              </a:avLst>
            </a:prstGeom>
            <a:solidFill>
              <a:srgbClr val="46464A"/>
            </a:solidFill>
            <a:ln/>
          </p:spPr>
          <p:txBody>
            <a:bodyPr/>
            <a:lstStyle/>
            <a:p>
              <a:endParaRPr lang="en-US"/>
            </a:p>
          </p:txBody>
        </p:sp>
        <p:sp>
          <p:nvSpPr>
            <p:cNvPr id="14" name="Text 11"/>
            <p:cNvSpPr/>
            <p:nvPr/>
          </p:nvSpPr>
          <p:spPr>
            <a:xfrm>
              <a:off x="925711" y="3626941"/>
              <a:ext cx="1232297" cy="154037"/>
            </a:xfrm>
            <a:prstGeom prst="rect">
              <a:avLst/>
            </a:prstGeom>
            <a:noFill/>
            <a:ln/>
          </p:spPr>
          <p:txBody>
            <a:bodyPr wrap="none" lIns="0" tIns="0" rIns="0" bIns="0" rtlCol="0" anchor="t"/>
            <a:lstStyle/>
            <a:p>
              <a:pPr marL="0" indent="0" algn="l">
                <a:lnSpc>
                  <a:spcPct val="104000"/>
                </a:lnSpc>
                <a:buNone/>
              </a:pPr>
              <a:r>
                <a:rPr lang="en-US" sz="950" b="1" dirty="0">
                  <a:solidFill>
                    <a:srgbClr val="D7D4CC"/>
                  </a:solidFill>
                  <a:latin typeface="Comfortaa Bold" pitchFamily="34" charset="0"/>
                  <a:ea typeface="Comfortaa Bold" pitchFamily="34" charset="-122"/>
                  <a:cs typeface="Comfortaa Bold" pitchFamily="34" charset="-120"/>
                </a:rPr>
                <a:t>Responsive Design</a:t>
              </a:r>
              <a:endParaRPr lang="en-US" sz="950" dirty="0"/>
            </a:p>
          </p:txBody>
        </p:sp>
        <p:sp>
          <p:nvSpPr>
            <p:cNvPr id="15" name="Text 12"/>
            <p:cNvSpPr/>
            <p:nvPr/>
          </p:nvSpPr>
          <p:spPr>
            <a:xfrm>
              <a:off x="925711" y="3828752"/>
              <a:ext cx="4275981" cy="845493"/>
            </a:xfrm>
            <a:prstGeom prst="rect">
              <a:avLst/>
            </a:prstGeom>
            <a:noFill/>
            <a:ln/>
          </p:spPr>
          <p:txBody>
            <a:bodyPr wrap="square" lIns="0" tIns="0" rIns="0" bIns="0" rtlCol="0" anchor="t">
              <a:normAutofit/>
            </a:bodyPr>
            <a:lstStyle/>
            <a:p>
              <a:pPr marL="342900" indent="-342900" algn="l">
                <a:lnSpc>
                  <a:spcPct val="115000"/>
                </a:lnSpc>
                <a:buSzPct val="100000"/>
                <a:buChar char="•"/>
              </a:pPr>
              <a:r>
                <a:rPr lang="en-US" sz="850" dirty="0">
                  <a:solidFill>
                    <a:srgbClr val="D7D4CC"/>
                  </a:solidFill>
                  <a:latin typeface="Raleway Medium" pitchFamily="34" charset="0"/>
                  <a:ea typeface="Raleway Medium" pitchFamily="34" charset="-122"/>
                  <a:cs typeface="Raleway Medium" pitchFamily="34" charset="-120"/>
                </a:rPr>
                <a:t>Desktop-first approach: Thiết kế cho màn hình lớn trước, sau đó dùng max-width để điều chỉnh cho mobile</a:t>
              </a:r>
              <a:endParaRPr lang="en-US" sz="850" dirty="0"/>
            </a:p>
            <a:p>
              <a:pPr marL="342900" indent="-342900" algn="l">
                <a:lnSpc>
                  <a:spcPct val="115000"/>
                </a:lnSpc>
                <a:buSzPct val="100000"/>
                <a:buChar char="•"/>
              </a:pPr>
              <a:r>
                <a:rPr lang="en-US" sz="850" dirty="0">
                  <a:solidFill>
                    <a:srgbClr val="D7D4CC"/>
                  </a:solidFill>
                  <a:latin typeface="Raleway Medium" pitchFamily="34" charset="0"/>
                  <a:ea typeface="Raleway Medium" pitchFamily="34" charset="-122"/>
                  <a:cs typeface="Raleway Medium" pitchFamily="34" charset="-120"/>
                </a:rPr>
                <a:t>Media Queries: @media (max-width: 991px) trong mobile.css</a:t>
              </a:r>
              <a:endParaRPr lang="en-US" sz="850" dirty="0"/>
            </a:p>
            <a:p>
              <a:pPr marL="342900" indent="-342900" algn="l">
                <a:lnSpc>
                  <a:spcPct val="115000"/>
                </a:lnSpc>
                <a:buSzPct val="100000"/>
                <a:buChar char="•"/>
              </a:pPr>
              <a:r>
                <a:rPr lang="en-US" sz="850" dirty="0">
                  <a:solidFill>
                    <a:srgbClr val="D7D4CC"/>
                  </a:solidFill>
                  <a:latin typeface="Raleway Medium" pitchFamily="34" charset="0"/>
                  <a:ea typeface="Raleway Medium" pitchFamily="34" charset="-122"/>
                  <a:cs typeface="Raleway Medium" pitchFamily="34" charset="-120"/>
                </a:rPr>
                <a:t>Hamburger Menu: navbar-toggler cho mobile navigation</a:t>
              </a:r>
              <a:endParaRPr lang="en-US" sz="850" dirty="0"/>
            </a:p>
            <a:p>
              <a:pPr marL="342900" indent="-342900" algn="l">
                <a:lnSpc>
                  <a:spcPct val="115000"/>
                </a:lnSpc>
                <a:buSzPct val="100000"/>
                <a:buChar char="•"/>
              </a:pPr>
              <a:r>
                <a:rPr lang="en-US" sz="850" dirty="0">
                  <a:solidFill>
                    <a:srgbClr val="D7D4CC"/>
                  </a:solidFill>
                  <a:latin typeface="Raleway Medium" pitchFamily="34" charset="0"/>
                  <a:ea typeface="Raleway Medium" pitchFamily="34" charset="-122"/>
                  <a:cs typeface="Raleway Medium" pitchFamily="34" charset="-120"/>
                </a:rPr>
                <a:t>Tương thích: Điện thoại, tablet, desktop</a:t>
              </a:r>
              <a:endParaRPr lang="en-US" sz="850" dirty="0"/>
            </a:p>
          </p:txBody>
        </p:sp>
      </p:grpSp>
      <p:sp>
        <p:nvSpPr>
          <p:cNvPr id="16" name="Rectangle 15">
            <a:extLst>
              <a:ext uri="{FF2B5EF4-FFF2-40B4-BE49-F238E27FC236}">
                <a16:creationId xmlns:a16="http://schemas.microsoft.com/office/drawing/2014/main" id="{452CF316-B448-4161-B56E-AA51A21A5846}"/>
              </a:ext>
            </a:extLst>
          </p:cNvPr>
          <p:cNvSpPr/>
          <p:nvPr/>
        </p:nvSpPr>
        <p:spPr>
          <a:xfrm>
            <a:off x="8023122" y="4855146"/>
            <a:ext cx="1120877" cy="288354"/>
          </a:xfrm>
          <a:prstGeom prst="rect">
            <a:avLst/>
          </a:prstGeom>
          <a:solidFill>
            <a:srgbClr val="2727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nvSpPr>
        <p:spPr>
          <a:xfrm>
            <a:off x="1804658" y="249956"/>
            <a:ext cx="4904929" cy="642938"/>
          </a:xfrm>
          <a:prstGeom prst="rect">
            <a:avLst/>
          </a:prstGeom>
          <a:noFill/>
          <a:ln/>
        </p:spPr>
        <p:txBody>
          <a:bodyPr wrap="square" lIns="0" tIns="0" rIns="0" bIns="0" rtlCol="0" anchor="t">
            <a:normAutofit/>
          </a:bodyPr>
          <a:lstStyle/>
          <a:p>
            <a:pPr marL="0" indent="0" algn="l">
              <a:lnSpc>
                <a:spcPct val="104000"/>
              </a:lnSpc>
              <a:buNone/>
            </a:pPr>
            <a:r>
              <a:rPr lang="en-US" sz="2000" b="1" dirty="0">
                <a:solidFill>
                  <a:srgbClr val="FFE14D"/>
                </a:solidFill>
                <a:latin typeface="Comfortaa Bold" pitchFamily="34" charset="0"/>
                <a:ea typeface="Comfortaa Bold" pitchFamily="34" charset="-122"/>
                <a:cs typeface="Comfortaa Bold" pitchFamily="34" charset="-120"/>
              </a:rPr>
              <a:t>Xử lý JavaScript — Giỏ hàng ảo (Virtual Cart)</a:t>
            </a:r>
            <a:endParaRPr lang="en-US" sz="2000" dirty="0"/>
          </a:p>
        </p:txBody>
      </p:sp>
      <p:grpSp>
        <p:nvGrpSpPr>
          <p:cNvPr id="19" name="Group 18">
            <a:extLst>
              <a:ext uri="{FF2B5EF4-FFF2-40B4-BE49-F238E27FC236}">
                <a16:creationId xmlns:a16="http://schemas.microsoft.com/office/drawing/2014/main" id="{F0A7E851-A797-9AD5-4405-9D2510EF3EFB}"/>
              </a:ext>
            </a:extLst>
          </p:cNvPr>
          <p:cNvGrpSpPr/>
          <p:nvPr/>
        </p:nvGrpSpPr>
        <p:grpSpPr>
          <a:xfrm>
            <a:off x="1804658" y="1164208"/>
            <a:ext cx="4904929" cy="3616672"/>
            <a:chOff x="1804658" y="1164208"/>
            <a:chExt cx="4904929" cy="3616672"/>
          </a:xfrm>
        </p:grpSpPr>
        <p:sp>
          <p:nvSpPr>
            <p:cNvPr id="4" name="Shape 1"/>
            <p:cNvSpPr/>
            <p:nvPr/>
          </p:nvSpPr>
          <p:spPr>
            <a:xfrm>
              <a:off x="1804658" y="1164208"/>
              <a:ext cx="4904929" cy="1211833"/>
            </a:xfrm>
            <a:prstGeom prst="roundRect">
              <a:avLst>
                <a:gd name="adj" fmla="val 14325"/>
              </a:avLst>
            </a:prstGeom>
            <a:solidFill>
              <a:srgbClr val="27272B"/>
            </a:solidFill>
            <a:ln w="14288">
              <a:solidFill>
                <a:srgbClr val="5F5F63"/>
              </a:solidFill>
              <a:prstDash val="solid"/>
            </a:ln>
          </p:spPr>
          <p:txBody>
            <a:bodyPr/>
            <a:lstStyle/>
            <a:p>
              <a:endParaRPr lang="en-US"/>
            </a:p>
          </p:txBody>
        </p:sp>
        <p:sp>
          <p:nvSpPr>
            <p:cNvPr id="5" name="Shape 2"/>
            <p:cNvSpPr/>
            <p:nvPr/>
          </p:nvSpPr>
          <p:spPr>
            <a:xfrm>
              <a:off x="1804658" y="1172648"/>
              <a:ext cx="462855" cy="1183258"/>
            </a:xfrm>
            <a:prstGeom prst="roundRect">
              <a:avLst>
                <a:gd name="adj" fmla="val 33801"/>
              </a:avLst>
            </a:prstGeom>
            <a:solidFill>
              <a:srgbClr val="46464A"/>
            </a:solidFill>
            <a:ln/>
          </p:spPr>
          <p:txBody>
            <a:bodyPr/>
            <a:lstStyle/>
            <a:p>
              <a:endParaRPr lang="en-US"/>
            </a:p>
          </p:txBody>
        </p:sp>
        <p:sp>
          <p:nvSpPr>
            <p:cNvPr id="6" name="Text 3"/>
            <p:cNvSpPr/>
            <p:nvPr/>
          </p:nvSpPr>
          <p:spPr>
            <a:xfrm>
              <a:off x="1949319" y="1655819"/>
              <a:ext cx="173534" cy="216917"/>
            </a:xfrm>
            <a:prstGeom prst="rect">
              <a:avLst/>
            </a:prstGeom>
            <a:noFill/>
            <a:ln/>
          </p:spPr>
          <p:txBody>
            <a:bodyPr wrap="none" lIns="0" tIns="0" rIns="0" bIns="0" rtlCol="0" anchor="ctr"/>
            <a:lstStyle/>
            <a:p>
              <a:pPr marL="0" indent="0" algn="ctr">
                <a:lnSpc>
                  <a:spcPct val="100000"/>
                </a:lnSpc>
                <a:buNone/>
              </a:pPr>
              <a:r>
                <a:rPr lang="en-US" sz="1350" b="1" dirty="0">
                  <a:solidFill>
                    <a:srgbClr val="D7D4CC"/>
                  </a:solidFill>
                  <a:latin typeface="Comfortaa Bold" pitchFamily="34" charset="0"/>
                  <a:ea typeface="Comfortaa Bold" pitchFamily="34" charset="-122"/>
                  <a:cs typeface="Comfortaa Bold" pitchFamily="34" charset="-120"/>
                </a:rPr>
                <a:t>1</a:t>
              </a:r>
              <a:endParaRPr lang="en-US" sz="1350" dirty="0"/>
            </a:p>
          </p:txBody>
        </p:sp>
        <p:sp>
          <p:nvSpPr>
            <p:cNvPr id="7" name="Text 4"/>
            <p:cNvSpPr/>
            <p:nvPr/>
          </p:nvSpPr>
          <p:spPr>
            <a:xfrm>
              <a:off x="2354281" y="1288362"/>
              <a:ext cx="1389459" cy="160734"/>
            </a:xfrm>
            <a:prstGeom prst="rect">
              <a:avLst/>
            </a:prstGeom>
            <a:noFill/>
            <a:ln/>
          </p:spPr>
          <p:txBody>
            <a:bodyPr wrap="none" lIns="0" tIns="0" rIns="0" bIns="0" rtlCol="0" anchor="t"/>
            <a:lstStyle/>
            <a:p>
              <a:pPr marL="0" indent="0" algn="l">
                <a:lnSpc>
                  <a:spcPct val="104000"/>
                </a:lnSpc>
                <a:buNone/>
              </a:pPr>
              <a:r>
                <a:rPr lang="en-US" sz="1000" b="1" dirty="0">
                  <a:solidFill>
                    <a:srgbClr val="D7D4CC"/>
                  </a:solidFill>
                  <a:latin typeface="Comfortaa Bold" pitchFamily="34" charset="0"/>
                  <a:ea typeface="Comfortaa Bold" pitchFamily="34" charset="-122"/>
                  <a:cs typeface="Comfortaa Bold" pitchFamily="34" charset="-120"/>
                </a:rPr>
                <a:t>Chức năng Giỏ hàng</a:t>
              </a:r>
              <a:endParaRPr lang="en-US" sz="1000" dirty="0"/>
            </a:p>
          </p:txBody>
        </p:sp>
        <p:sp>
          <p:nvSpPr>
            <p:cNvPr id="8" name="Text 5"/>
            <p:cNvSpPr/>
            <p:nvPr/>
          </p:nvSpPr>
          <p:spPr>
            <a:xfrm>
              <a:off x="2354281" y="1501112"/>
              <a:ext cx="4211017" cy="739080"/>
            </a:xfrm>
            <a:prstGeom prst="rect">
              <a:avLst/>
            </a:prstGeom>
            <a:noFill/>
            <a:ln/>
          </p:spPr>
          <p:txBody>
            <a:bodyPr wrap="square" lIns="0" tIns="0" rIns="0" bIns="0" rtlCol="0" anchor="t">
              <a:normAutofit/>
            </a:bodyPr>
            <a:lstStyle/>
            <a:p>
              <a:pPr marL="342900" indent="-342900" algn="l">
                <a:lnSpc>
                  <a:spcPct val="117000"/>
                </a:lnSpc>
                <a:buSzPct val="100000"/>
                <a:buChar char="•"/>
              </a:pPr>
              <a:r>
                <a:rPr lang="en-US" sz="900" dirty="0">
                  <a:solidFill>
                    <a:srgbClr val="D7D4CC"/>
                  </a:solidFill>
                  <a:latin typeface="Raleway Medium" pitchFamily="34" charset="0"/>
                  <a:ea typeface="Raleway Medium" pitchFamily="34" charset="-122"/>
                  <a:cs typeface="Raleway Medium" pitchFamily="34" charset="-120"/>
                </a:rPr>
                <a:t>Thêm/xóa sản phẩm vào giỏ hàng</a:t>
              </a:r>
              <a:endParaRPr lang="en-US" sz="900" dirty="0"/>
            </a:p>
            <a:p>
              <a:pPr marL="342900" indent="-342900" algn="l">
                <a:lnSpc>
                  <a:spcPct val="117000"/>
                </a:lnSpc>
                <a:buSzPct val="100000"/>
                <a:buChar char="•"/>
              </a:pPr>
              <a:r>
                <a:rPr lang="en-US" sz="900" dirty="0">
                  <a:solidFill>
                    <a:srgbClr val="D7D4CC"/>
                  </a:solidFill>
                  <a:latin typeface="Raleway Medium" pitchFamily="34" charset="0"/>
                  <a:ea typeface="Raleway Medium" pitchFamily="34" charset="-122"/>
                  <a:cs typeface="Raleway Medium" pitchFamily="34" charset="-120"/>
                </a:rPr>
                <a:t>Cập nhật số lượng sản phẩm</a:t>
              </a:r>
              <a:endParaRPr lang="en-US" sz="900" dirty="0"/>
            </a:p>
            <a:p>
              <a:pPr marL="342900" indent="-342900" algn="l">
                <a:lnSpc>
                  <a:spcPct val="117000"/>
                </a:lnSpc>
                <a:buSzPct val="100000"/>
                <a:buChar char="•"/>
              </a:pPr>
              <a:r>
                <a:rPr lang="en-US" sz="900" dirty="0">
                  <a:solidFill>
                    <a:srgbClr val="D7D4CC"/>
                  </a:solidFill>
                  <a:latin typeface="Raleway Medium" pitchFamily="34" charset="0"/>
                  <a:ea typeface="Raleway Medium" pitchFamily="34" charset="-122"/>
                  <a:cs typeface="Raleway Medium" pitchFamily="34" charset="-120"/>
                </a:rPr>
                <a:t>Tính toán tổng giá tiền tự động</a:t>
              </a:r>
              <a:endParaRPr lang="en-US" sz="900" dirty="0"/>
            </a:p>
            <a:p>
              <a:pPr marL="342900" indent="-342900" algn="l">
                <a:lnSpc>
                  <a:spcPct val="117000"/>
                </a:lnSpc>
                <a:buSzPct val="100000"/>
                <a:buChar char="•"/>
              </a:pPr>
              <a:r>
                <a:rPr lang="en-US" sz="900" dirty="0">
                  <a:solidFill>
                    <a:srgbClr val="D7D4CC"/>
                  </a:solidFill>
                  <a:latin typeface="Raleway Medium" pitchFamily="34" charset="0"/>
                  <a:ea typeface="Raleway Medium" pitchFamily="34" charset="-122"/>
                  <a:cs typeface="Raleway Medium" pitchFamily="34" charset="-120"/>
                </a:rPr>
                <a:t>Hiển thị cart indicator trên navbar</a:t>
              </a:r>
              <a:endParaRPr lang="en-US" sz="900" dirty="0"/>
            </a:p>
          </p:txBody>
        </p:sp>
        <p:sp>
          <p:nvSpPr>
            <p:cNvPr id="9" name="Shape 6"/>
            <p:cNvSpPr/>
            <p:nvPr/>
          </p:nvSpPr>
          <p:spPr>
            <a:xfrm>
              <a:off x="1804658" y="2462807"/>
              <a:ext cx="4904929" cy="1019473"/>
            </a:xfrm>
            <a:prstGeom prst="roundRect">
              <a:avLst>
                <a:gd name="adj" fmla="val 17028"/>
              </a:avLst>
            </a:prstGeom>
            <a:solidFill>
              <a:srgbClr val="27272B"/>
            </a:solidFill>
            <a:ln w="14288">
              <a:solidFill>
                <a:srgbClr val="5F5F63"/>
              </a:solidFill>
              <a:prstDash val="solid"/>
            </a:ln>
          </p:spPr>
          <p:txBody>
            <a:bodyPr/>
            <a:lstStyle/>
            <a:p>
              <a:endParaRPr lang="en-US"/>
            </a:p>
          </p:txBody>
        </p:sp>
        <p:sp>
          <p:nvSpPr>
            <p:cNvPr id="10" name="Shape 7"/>
            <p:cNvSpPr/>
            <p:nvPr/>
          </p:nvSpPr>
          <p:spPr>
            <a:xfrm>
              <a:off x="1804658" y="2471248"/>
              <a:ext cx="462855" cy="990898"/>
            </a:xfrm>
            <a:prstGeom prst="roundRect">
              <a:avLst>
                <a:gd name="adj" fmla="val 33801"/>
              </a:avLst>
            </a:prstGeom>
            <a:solidFill>
              <a:srgbClr val="46464A"/>
            </a:solidFill>
            <a:ln/>
          </p:spPr>
          <p:txBody>
            <a:bodyPr/>
            <a:lstStyle/>
            <a:p>
              <a:endParaRPr lang="en-US"/>
            </a:p>
          </p:txBody>
        </p:sp>
        <p:sp>
          <p:nvSpPr>
            <p:cNvPr id="11" name="Text 8"/>
            <p:cNvSpPr/>
            <p:nvPr/>
          </p:nvSpPr>
          <p:spPr>
            <a:xfrm>
              <a:off x="1949319" y="2858201"/>
              <a:ext cx="173534" cy="216917"/>
            </a:xfrm>
            <a:prstGeom prst="rect">
              <a:avLst/>
            </a:prstGeom>
            <a:noFill/>
            <a:ln/>
          </p:spPr>
          <p:txBody>
            <a:bodyPr wrap="none" lIns="0" tIns="0" rIns="0" bIns="0" rtlCol="0" anchor="ctr"/>
            <a:lstStyle/>
            <a:p>
              <a:pPr marL="0" indent="0" algn="ctr">
                <a:lnSpc>
                  <a:spcPct val="100000"/>
                </a:lnSpc>
                <a:buNone/>
              </a:pPr>
              <a:r>
                <a:rPr lang="en-US" sz="1350" b="1" dirty="0">
                  <a:solidFill>
                    <a:srgbClr val="D7D4CC"/>
                  </a:solidFill>
                  <a:latin typeface="Comfortaa Bold" pitchFamily="34" charset="0"/>
                  <a:ea typeface="Comfortaa Bold" pitchFamily="34" charset="-122"/>
                  <a:cs typeface="Comfortaa Bold" pitchFamily="34" charset="-120"/>
                </a:rPr>
                <a:t>2</a:t>
              </a:r>
              <a:endParaRPr lang="en-US" sz="1350" dirty="0"/>
            </a:p>
          </p:txBody>
        </p:sp>
        <p:sp>
          <p:nvSpPr>
            <p:cNvPr id="12" name="Text 9"/>
            <p:cNvSpPr/>
            <p:nvPr/>
          </p:nvSpPr>
          <p:spPr>
            <a:xfrm>
              <a:off x="2354281" y="2586962"/>
              <a:ext cx="1285875" cy="160734"/>
            </a:xfrm>
            <a:prstGeom prst="rect">
              <a:avLst/>
            </a:prstGeom>
            <a:noFill/>
            <a:ln/>
          </p:spPr>
          <p:txBody>
            <a:bodyPr wrap="none" lIns="0" tIns="0" rIns="0" bIns="0" rtlCol="0" anchor="t"/>
            <a:lstStyle/>
            <a:p>
              <a:pPr marL="0" indent="0" algn="l">
                <a:lnSpc>
                  <a:spcPct val="104000"/>
                </a:lnSpc>
                <a:buNone/>
              </a:pPr>
              <a:r>
                <a:rPr lang="en-US" sz="1000" b="1" dirty="0">
                  <a:solidFill>
                    <a:srgbClr val="D7D4CC"/>
                  </a:solidFill>
                  <a:latin typeface="Comfortaa Bold" pitchFamily="34" charset="0"/>
                  <a:ea typeface="Comfortaa Bold" pitchFamily="34" charset="-122"/>
                  <a:cs typeface="Comfortaa Bold" pitchFamily="34" charset="-120"/>
                </a:rPr>
                <a:t>Lưu trữ dữ liệu</a:t>
              </a:r>
              <a:endParaRPr lang="en-US" sz="1000" dirty="0"/>
            </a:p>
          </p:txBody>
        </p:sp>
        <p:sp>
          <p:nvSpPr>
            <p:cNvPr id="13" name="Text 10"/>
            <p:cNvSpPr/>
            <p:nvPr/>
          </p:nvSpPr>
          <p:spPr>
            <a:xfrm>
              <a:off x="2354281" y="2799711"/>
              <a:ext cx="4211017" cy="546720"/>
            </a:xfrm>
            <a:prstGeom prst="rect">
              <a:avLst/>
            </a:prstGeom>
            <a:noFill/>
            <a:ln/>
          </p:spPr>
          <p:txBody>
            <a:bodyPr wrap="square" lIns="0" tIns="0" rIns="0" bIns="0" rtlCol="0" anchor="t">
              <a:normAutofit/>
            </a:bodyPr>
            <a:lstStyle/>
            <a:p>
              <a:pPr marL="342900" indent="-342900" algn="l">
                <a:lnSpc>
                  <a:spcPct val="117000"/>
                </a:lnSpc>
                <a:buSzPct val="100000"/>
                <a:buChar char="•"/>
              </a:pPr>
              <a:r>
                <a:rPr lang="en-US" sz="900" dirty="0">
                  <a:solidFill>
                    <a:srgbClr val="D7D4CC"/>
                  </a:solidFill>
                  <a:latin typeface="Raleway Medium" pitchFamily="34" charset="0"/>
                  <a:ea typeface="Raleway Medium" pitchFamily="34" charset="-122"/>
                  <a:cs typeface="Raleway Medium" pitchFamily="34" charset="-120"/>
                </a:rPr>
                <a:t>Sử dụng localStorage để lưu trạng thái giỏ hàng</a:t>
              </a:r>
              <a:endParaRPr lang="en-US" sz="900" dirty="0"/>
            </a:p>
            <a:p>
              <a:pPr marL="342900" indent="-342900" algn="l">
                <a:lnSpc>
                  <a:spcPct val="117000"/>
                </a:lnSpc>
                <a:buSzPct val="100000"/>
                <a:buChar char="•"/>
              </a:pPr>
              <a:r>
                <a:rPr lang="en-US" sz="900" dirty="0">
                  <a:solidFill>
                    <a:srgbClr val="D7D4CC"/>
                  </a:solidFill>
                  <a:latin typeface="Raleway Medium" pitchFamily="34" charset="0"/>
                  <a:ea typeface="Raleway Medium" pitchFamily="34" charset="-122"/>
                  <a:cs typeface="Raleway Medium" pitchFamily="34" charset="-120"/>
                </a:rPr>
                <a:t>Dữ liệu được giữ nguyên khi F5 hoặc tắt tab</a:t>
              </a:r>
              <a:endParaRPr lang="en-US" sz="900" dirty="0"/>
            </a:p>
            <a:p>
              <a:pPr marL="342900" indent="-342900" algn="l">
                <a:lnSpc>
                  <a:spcPct val="117000"/>
                </a:lnSpc>
                <a:buSzPct val="100000"/>
                <a:buChar char="•"/>
              </a:pPr>
              <a:r>
                <a:rPr lang="en-US" sz="900" dirty="0">
                  <a:solidFill>
                    <a:srgbClr val="D7D4CC"/>
                  </a:solidFill>
                  <a:latin typeface="Raleway Medium" pitchFamily="34" charset="0"/>
                  <a:ea typeface="Raleway Medium" pitchFamily="34" charset="-122"/>
                  <a:cs typeface="Raleway Medium" pitchFamily="34" charset="-120"/>
                </a:rPr>
                <a:t>Cấu trúc dữ liệu: Array of objects {id, name, price, quantity}</a:t>
              </a:r>
              <a:endParaRPr lang="en-US" sz="900" dirty="0"/>
            </a:p>
          </p:txBody>
        </p:sp>
        <p:sp>
          <p:nvSpPr>
            <p:cNvPr id="14" name="Shape 11"/>
            <p:cNvSpPr/>
            <p:nvPr/>
          </p:nvSpPr>
          <p:spPr>
            <a:xfrm>
              <a:off x="1804658" y="3569047"/>
              <a:ext cx="4904929" cy="1211833"/>
            </a:xfrm>
            <a:prstGeom prst="roundRect">
              <a:avLst>
                <a:gd name="adj" fmla="val 14325"/>
              </a:avLst>
            </a:prstGeom>
            <a:solidFill>
              <a:srgbClr val="27272B"/>
            </a:solidFill>
            <a:ln w="14288">
              <a:solidFill>
                <a:srgbClr val="5F5F63"/>
              </a:solidFill>
              <a:prstDash val="solid"/>
            </a:ln>
          </p:spPr>
          <p:txBody>
            <a:bodyPr/>
            <a:lstStyle/>
            <a:p>
              <a:endParaRPr lang="en-US"/>
            </a:p>
          </p:txBody>
        </p:sp>
        <p:sp>
          <p:nvSpPr>
            <p:cNvPr id="15" name="Shape 12"/>
            <p:cNvSpPr/>
            <p:nvPr/>
          </p:nvSpPr>
          <p:spPr>
            <a:xfrm>
              <a:off x="1804658" y="3577487"/>
              <a:ext cx="462855" cy="1183258"/>
            </a:xfrm>
            <a:prstGeom prst="roundRect">
              <a:avLst>
                <a:gd name="adj" fmla="val 33801"/>
              </a:avLst>
            </a:prstGeom>
            <a:solidFill>
              <a:srgbClr val="46464A"/>
            </a:solidFill>
            <a:ln/>
          </p:spPr>
          <p:txBody>
            <a:bodyPr/>
            <a:lstStyle/>
            <a:p>
              <a:endParaRPr lang="en-US"/>
            </a:p>
          </p:txBody>
        </p:sp>
        <p:sp>
          <p:nvSpPr>
            <p:cNvPr id="16" name="Text 13"/>
            <p:cNvSpPr/>
            <p:nvPr/>
          </p:nvSpPr>
          <p:spPr>
            <a:xfrm>
              <a:off x="1949319" y="4060658"/>
              <a:ext cx="173534" cy="216917"/>
            </a:xfrm>
            <a:prstGeom prst="rect">
              <a:avLst/>
            </a:prstGeom>
            <a:noFill/>
            <a:ln/>
          </p:spPr>
          <p:txBody>
            <a:bodyPr wrap="none" lIns="0" tIns="0" rIns="0" bIns="0" rtlCol="0" anchor="ctr"/>
            <a:lstStyle/>
            <a:p>
              <a:pPr marL="0" indent="0" algn="ctr">
                <a:lnSpc>
                  <a:spcPct val="100000"/>
                </a:lnSpc>
                <a:buNone/>
              </a:pPr>
              <a:r>
                <a:rPr lang="en-US" sz="1350" b="1" dirty="0">
                  <a:solidFill>
                    <a:srgbClr val="D7D4CC"/>
                  </a:solidFill>
                  <a:latin typeface="Comfortaa Bold" pitchFamily="34" charset="0"/>
                  <a:ea typeface="Comfortaa Bold" pitchFamily="34" charset="-122"/>
                  <a:cs typeface="Comfortaa Bold" pitchFamily="34" charset="-120"/>
                </a:rPr>
                <a:t>3</a:t>
              </a:r>
              <a:endParaRPr lang="en-US" sz="1350" dirty="0"/>
            </a:p>
          </p:txBody>
        </p:sp>
        <p:sp>
          <p:nvSpPr>
            <p:cNvPr id="17" name="Text 14"/>
            <p:cNvSpPr/>
            <p:nvPr/>
          </p:nvSpPr>
          <p:spPr>
            <a:xfrm>
              <a:off x="2354281" y="3693201"/>
              <a:ext cx="1285875" cy="160734"/>
            </a:xfrm>
            <a:prstGeom prst="rect">
              <a:avLst/>
            </a:prstGeom>
            <a:noFill/>
            <a:ln/>
          </p:spPr>
          <p:txBody>
            <a:bodyPr wrap="none" lIns="0" tIns="0" rIns="0" bIns="0" rtlCol="0" anchor="t"/>
            <a:lstStyle/>
            <a:p>
              <a:pPr marL="0" indent="0" algn="l">
                <a:lnSpc>
                  <a:spcPct val="104000"/>
                </a:lnSpc>
                <a:buNone/>
              </a:pPr>
              <a:r>
                <a:rPr lang="en-US" sz="1000" b="1" dirty="0">
                  <a:solidFill>
                    <a:srgbClr val="D7D4CC"/>
                  </a:solidFill>
                  <a:latin typeface="Comfortaa Bold" pitchFamily="34" charset="0"/>
                  <a:ea typeface="Comfortaa Bold" pitchFamily="34" charset="-122"/>
                  <a:cs typeface="Comfortaa Bold" pitchFamily="34" charset="-120"/>
                </a:rPr>
                <a:t>DOM Manipulation</a:t>
              </a:r>
              <a:endParaRPr lang="en-US" sz="1000" dirty="0"/>
            </a:p>
          </p:txBody>
        </p:sp>
        <p:sp>
          <p:nvSpPr>
            <p:cNvPr id="18" name="Text 15"/>
            <p:cNvSpPr/>
            <p:nvPr/>
          </p:nvSpPr>
          <p:spPr>
            <a:xfrm>
              <a:off x="2354281" y="3905951"/>
              <a:ext cx="4211017" cy="739080"/>
            </a:xfrm>
            <a:prstGeom prst="rect">
              <a:avLst/>
            </a:prstGeom>
            <a:noFill/>
            <a:ln/>
          </p:spPr>
          <p:txBody>
            <a:bodyPr wrap="square" lIns="0" tIns="0" rIns="0" bIns="0" rtlCol="0" anchor="t">
              <a:normAutofit/>
            </a:bodyPr>
            <a:lstStyle/>
            <a:p>
              <a:pPr marL="342900" indent="-342900" algn="l">
                <a:lnSpc>
                  <a:spcPct val="117000"/>
                </a:lnSpc>
                <a:buSzPct val="100000"/>
                <a:buChar char="•"/>
              </a:pPr>
              <a:r>
                <a:rPr lang="en-US" sz="900" dirty="0">
                  <a:solidFill>
                    <a:srgbClr val="D7D4CC"/>
                  </a:solidFill>
                  <a:latin typeface="Raleway Medium" pitchFamily="34" charset="0"/>
                  <a:ea typeface="Raleway Medium" pitchFamily="34" charset="-122"/>
                  <a:cs typeface="Raleway Medium" pitchFamily="34" charset="-120"/>
                </a:rPr>
                <a:t>Bắt sự kiện click trên nút "Thêm vào giỏ"</a:t>
              </a:r>
              <a:endParaRPr lang="en-US" sz="900" dirty="0"/>
            </a:p>
            <a:p>
              <a:pPr marL="342900" indent="-342900" algn="l">
                <a:lnSpc>
                  <a:spcPct val="117000"/>
                </a:lnSpc>
                <a:buSzPct val="100000"/>
                <a:buChar char="•"/>
              </a:pPr>
              <a:r>
                <a:rPr lang="en-US" sz="900" dirty="0">
                  <a:solidFill>
                    <a:srgbClr val="D7D4CC"/>
                  </a:solidFill>
                  <a:latin typeface="Raleway Medium" pitchFamily="34" charset="0"/>
                  <a:ea typeface="Raleway Medium" pitchFamily="34" charset="-122"/>
                  <a:cs typeface="Raleway Medium" pitchFamily="34" charset="-120"/>
                </a:rPr>
                <a:t>Cập nhật giao diện giỏ hàng theo thời gian thực</a:t>
              </a:r>
              <a:endParaRPr lang="en-US" sz="900" dirty="0"/>
            </a:p>
            <a:p>
              <a:pPr marL="342900" indent="-342900" algn="l">
                <a:lnSpc>
                  <a:spcPct val="117000"/>
                </a:lnSpc>
                <a:buSzPct val="100000"/>
                <a:buChar char="•"/>
              </a:pPr>
              <a:r>
                <a:rPr lang="en-US" sz="900" dirty="0">
                  <a:solidFill>
                    <a:srgbClr val="D7D4CC"/>
                  </a:solidFill>
                  <a:latin typeface="Raleway Medium" pitchFamily="34" charset="0"/>
                  <a:ea typeface="Raleway Medium" pitchFamily="34" charset="-122"/>
                  <a:cs typeface="Raleway Medium" pitchFamily="34" charset="-120"/>
                </a:rPr>
                <a:t>Hiển thị/ẩn sidebar cart khi click icon giỏ</a:t>
              </a:r>
              <a:endParaRPr lang="en-US" sz="900" dirty="0"/>
            </a:p>
            <a:p>
              <a:pPr marL="342900" indent="-342900" algn="l">
                <a:lnSpc>
                  <a:spcPct val="117000"/>
                </a:lnSpc>
                <a:buSzPct val="100000"/>
                <a:buChar char="•"/>
              </a:pPr>
              <a:r>
                <a:rPr lang="en-US" sz="900" dirty="0">
                  <a:solidFill>
                    <a:srgbClr val="D7D4CC"/>
                  </a:solidFill>
                  <a:latin typeface="Raleway Medium" pitchFamily="34" charset="0"/>
                  <a:ea typeface="Raleway Medium" pitchFamily="34" charset="-122"/>
                  <a:cs typeface="Raleway Medium" pitchFamily="34" charset="-120"/>
                </a:rPr>
                <a:t>Xóa sản phẩm và refresh tổng tiền</a:t>
              </a:r>
              <a:endParaRPr lang="en-US" sz="900" dirty="0"/>
            </a:p>
          </p:txBody>
        </p:sp>
      </p:grpSp>
      <p:sp>
        <p:nvSpPr>
          <p:cNvPr id="21" name="Rectangle 20">
            <a:extLst>
              <a:ext uri="{FF2B5EF4-FFF2-40B4-BE49-F238E27FC236}">
                <a16:creationId xmlns:a16="http://schemas.microsoft.com/office/drawing/2014/main" id="{EE6A29A1-F2A8-390F-D964-EA2851BCFF8B}"/>
              </a:ext>
            </a:extLst>
          </p:cNvPr>
          <p:cNvSpPr/>
          <p:nvPr/>
        </p:nvSpPr>
        <p:spPr>
          <a:xfrm>
            <a:off x="8023122" y="4855146"/>
            <a:ext cx="1120877" cy="288354"/>
          </a:xfrm>
          <a:prstGeom prst="rect">
            <a:avLst/>
          </a:prstGeom>
          <a:solidFill>
            <a:srgbClr val="2727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55637" y="410319"/>
            <a:ext cx="4803725" cy="723305"/>
          </a:xfrm>
          <a:prstGeom prst="rect">
            <a:avLst/>
          </a:prstGeom>
          <a:noFill/>
          <a:ln/>
        </p:spPr>
        <p:txBody>
          <a:bodyPr wrap="square" lIns="0" tIns="0" rIns="0" bIns="0" rtlCol="0" anchor="t">
            <a:normAutofit/>
          </a:bodyPr>
          <a:lstStyle/>
          <a:p>
            <a:pPr marL="0" indent="0" algn="l">
              <a:lnSpc>
                <a:spcPct val="104000"/>
              </a:lnSpc>
              <a:buNone/>
            </a:pPr>
            <a:r>
              <a:rPr lang="en-US" sz="2250" b="1" dirty="0">
                <a:solidFill>
                  <a:srgbClr val="FFE14D"/>
                </a:solidFill>
                <a:latin typeface="Comfortaa Bold" pitchFamily="34" charset="0"/>
                <a:ea typeface="Comfortaa Bold" pitchFamily="34" charset="-122"/>
                <a:cs typeface="Comfortaa Bold" pitchFamily="34" charset="-120"/>
              </a:rPr>
              <a:t>Tính năng Đa ngôn ngữ (i18n) — Tiếng Anh &amp; Tiếng Việt</a:t>
            </a:r>
            <a:endParaRPr lang="en-US" sz="2250" dirty="0"/>
          </a:p>
        </p:txBody>
      </p:sp>
      <p:sp>
        <p:nvSpPr>
          <p:cNvPr id="4" name="Text 1"/>
          <p:cNvSpPr/>
          <p:nvPr/>
        </p:nvSpPr>
        <p:spPr>
          <a:xfrm>
            <a:off x="455637" y="1177528"/>
            <a:ext cx="1903809" cy="180826"/>
          </a:xfrm>
          <a:prstGeom prst="rect">
            <a:avLst/>
          </a:prstGeom>
          <a:noFill/>
          <a:ln/>
        </p:spPr>
        <p:txBody>
          <a:bodyPr wrap="none" lIns="0" tIns="0" rIns="0" bIns="0" rtlCol="0" anchor="t"/>
          <a:lstStyle/>
          <a:p>
            <a:pPr marL="0" indent="0" algn="l">
              <a:lnSpc>
                <a:spcPct val="104000"/>
              </a:lnSpc>
              <a:buNone/>
            </a:pPr>
            <a:r>
              <a:rPr lang="en-US" sz="1100" b="1" dirty="0">
                <a:solidFill>
                  <a:srgbClr val="FFE14D"/>
                </a:solidFill>
                <a:latin typeface="Comfortaa Bold" pitchFamily="34" charset="0"/>
                <a:ea typeface="Comfortaa Bold" pitchFamily="34" charset="-122"/>
                <a:cs typeface="Comfortaa Bold" pitchFamily="34" charset="-120"/>
              </a:rPr>
              <a:t>Cơ chế i18n</a:t>
            </a:r>
            <a:endParaRPr lang="en-US" sz="1100" dirty="0"/>
          </a:p>
        </p:txBody>
      </p:sp>
      <p:sp>
        <p:nvSpPr>
          <p:cNvPr id="5" name="Text 2"/>
          <p:cNvSpPr/>
          <p:nvPr/>
        </p:nvSpPr>
        <p:spPr>
          <a:xfrm>
            <a:off x="455637" y="1523107"/>
            <a:ext cx="4803725" cy="652983"/>
          </a:xfrm>
          <a:prstGeom prst="rect">
            <a:avLst/>
          </a:prstGeom>
          <a:noFill/>
          <a:ln/>
        </p:spPr>
        <p:txBody>
          <a:bodyPr wrap="square" lIns="0" tIns="0" rIns="0" bIns="0" rtlCol="0" anchor="t">
            <a:normAutofit/>
          </a:bodyPr>
          <a:lstStyle/>
          <a:p>
            <a:pPr marL="342900" indent="-342900" algn="l">
              <a:lnSpc>
                <a:spcPct val="123000"/>
              </a:lnSpc>
              <a:buSzPct val="100000"/>
              <a:buChar char="•"/>
            </a:pPr>
            <a:r>
              <a:rPr lang="en-US" sz="1000" dirty="0">
                <a:solidFill>
                  <a:srgbClr val="D7D4CC"/>
                </a:solidFill>
                <a:latin typeface="Raleway Medium" pitchFamily="34" charset="0"/>
                <a:ea typeface="Raleway Medium" pitchFamily="34" charset="-122"/>
                <a:cs typeface="Raleway Medium" pitchFamily="34" charset="-120"/>
              </a:rPr>
              <a:t>Tạo file từ điển: i18n.js chứa các cặp key-value cho mỗi ngôn ngữ</a:t>
            </a:r>
            <a:endParaRPr lang="en-US" sz="1000" dirty="0"/>
          </a:p>
          <a:p>
            <a:pPr marL="342900" indent="-342900" algn="l">
              <a:lnSpc>
                <a:spcPct val="123000"/>
              </a:lnSpc>
              <a:buSzPct val="100000"/>
              <a:buChar char="•"/>
            </a:pPr>
            <a:r>
              <a:rPr lang="en-US" sz="1000" dirty="0">
                <a:solidFill>
                  <a:srgbClr val="D7D4CC"/>
                </a:solidFill>
                <a:latin typeface="Raleway Medium" pitchFamily="34" charset="0"/>
                <a:ea typeface="Raleway Medium" pitchFamily="34" charset="-122"/>
                <a:cs typeface="Raleway Medium" pitchFamily="34" charset="-120"/>
              </a:rPr>
              <a:t>Không sử dụng thư viện ngoài — logic tự viết bằng Vanilla JS</a:t>
            </a:r>
            <a:endParaRPr lang="en-US" sz="1000" dirty="0"/>
          </a:p>
          <a:p>
            <a:pPr marL="342900" indent="-342900" algn="l">
              <a:lnSpc>
                <a:spcPct val="123000"/>
              </a:lnSpc>
              <a:buSzPct val="100000"/>
              <a:buChar char="•"/>
            </a:pPr>
            <a:r>
              <a:rPr lang="en-US" sz="1000" dirty="0">
                <a:solidFill>
                  <a:srgbClr val="D7D4CC"/>
                </a:solidFill>
                <a:latin typeface="Raleway Medium" pitchFamily="34" charset="0"/>
                <a:ea typeface="Raleway Medium" pitchFamily="34" charset="-122"/>
                <a:cs typeface="Raleway Medium" pitchFamily="34" charset="-120"/>
              </a:rPr>
              <a:t>Hỗ trợ 2 ngôn ngữ: Tiếng Việt (vi) và Tiếng Anh (en)</a:t>
            </a:r>
            <a:endParaRPr lang="en-US" sz="1000" dirty="0"/>
          </a:p>
        </p:txBody>
      </p:sp>
      <p:sp>
        <p:nvSpPr>
          <p:cNvPr id="6" name="Text 3"/>
          <p:cNvSpPr/>
          <p:nvPr/>
        </p:nvSpPr>
        <p:spPr>
          <a:xfrm>
            <a:off x="455637" y="2340843"/>
            <a:ext cx="1903809" cy="180826"/>
          </a:xfrm>
          <a:prstGeom prst="rect">
            <a:avLst/>
          </a:prstGeom>
          <a:noFill/>
          <a:ln/>
        </p:spPr>
        <p:txBody>
          <a:bodyPr wrap="none" lIns="0" tIns="0" rIns="0" bIns="0" rtlCol="0" anchor="t"/>
          <a:lstStyle/>
          <a:p>
            <a:pPr marL="0" indent="0" algn="l">
              <a:lnSpc>
                <a:spcPct val="104000"/>
              </a:lnSpc>
              <a:buNone/>
            </a:pPr>
            <a:r>
              <a:rPr lang="en-US" sz="1100" b="1" dirty="0">
                <a:solidFill>
                  <a:srgbClr val="FFE14D"/>
                </a:solidFill>
                <a:latin typeface="Comfortaa Bold" pitchFamily="34" charset="0"/>
                <a:ea typeface="Comfortaa Bold" pitchFamily="34" charset="-122"/>
                <a:cs typeface="Comfortaa Bold" pitchFamily="34" charset="-120"/>
              </a:rPr>
              <a:t>Cách hoạt động</a:t>
            </a:r>
            <a:endParaRPr lang="en-US" sz="1100" dirty="0"/>
          </a:p>
        </p:txBody>
      </p:sp>
      <p:sp>
        <p:nvSpPr>
          <p:cNvPr id="7" name="Text 4"/>
          <p:cNvSpPr/>
          <p:nvPr/>
        </p:nvSpPr>
        <p:spPr>
          <a:xfrm>
            <a:off x="455637" y="2686422"/>
            <a:ext cx="4803725" cy="883444"/>
          </a:xfrm>
          <a:prstGeom prst="rect">
            <a:avLst/>
          </a:prstGeom>
          <a:noFill/>
          <a:ln/>
        </p:spPr>
        <p:txBody>
          <a:bodyPr wrap="square" lIns="0" tIns="0" rIns="0" bIns="0" rtlCol="0" anchor="t">
            <a:normAutofit/>
          </a:bodyPr>
          <a:lstStyle/>
          <a:p>
            <a:pPr marL="342900" indent="-342900" algn="l">
              <a:lnSpc>
                <a:spcPct val="123000"/>
              </a:lnSpc>
              <a:buSzPct val="100000"/>
              <a:buChar char="•"/>
            </a:pPr>
            <a:r>
              <a:rPr lang="en-US" sz="1000" dirty="0">
                <a:solidFill>
                  <a:srgbClr val="D7D4CC"/>
                </a:solidFill>
                <a:latin typeface="Raleway Medium" pitchFamily="34" charset="0"/>
                <a:ea typeface="Raleway Medium" pitchFamily="34" charset="-122"/>
                <a:cs typeface="Raleway Medium" pitchFamily="34" charset="-120"/>
              </a:rPr>
              <a:t>Gắn thuộc tính data-i18n="key" trên các phần tử HTML</a:t>
            </a:r>
            <a:endParaRPr lang="en-US" sz="1000" dirty="0"/>
          </a:p>
          <a:p>
            <a:pPr marL="342900" indent="-342900" algn="l">
              <a:lnSpc>
                <a:spcPct val="123000"/>
              </a:lnSpc>
              <a:buSzPct val="100000"/>
              <a:buChar char="•"/>
            </a:pPr>
            <a:r>
              <a:rPr lang="en-US" sz="1000" dirty="0">
                <a:solidFill>
                  <a:srgbClr val="D7D4CC"/>
                </a:solidFill>
                <a:latin typeface="Raleway Medium" pitchFamily="34" charset="0"/>
                <a:ea typeface="Raleway Medium" pitchFamily="34" charset="-122"/>
                <a:cs typeface="Raleway Medium" pitchFamily="34" charset="-120"/>
              </a:rPr>
              <a:t>JavaScript đọc thuộc tính này và thay thế text từ file từ điển</a:t>
            </a:r>
            <a:endParaRPr lang="en-US" sz="1000" dirty="0"/>
          </a:p>
          <a:p>
            <a:pPr marL="342900" indent="-342900" algn="l">
              <a:lnSpc>
                <a:spcPct val="123000"/>
              </a:lnSpc>
              <a:buSzPct val="100000"/>
              <a:buChar char="•"/>
            </a:pPr>
            <a:r>
              <a:rPr lang="en-US" sz="1000" dirty="0">
                <a:solidFill>
                  <a:srgbClr val="D7D4CC"/>
                </a:solidFill>
                <a:latin typeface="Raleway Medium" pitchFamily="34" charset="0"/>
                <a:ea typeface="Raleway Medium" pitchFamily="34" charset="-122"/>
                <a:cs typeface="Raleway Medium" pitchFamily="34" charset="-120"/>
              </a:rPr>
              <a:t>Chuyển đổi ngôn ngữ mà không cần tải lại trang (No page reload)</a:t>
            </a:r>
            <a:endParaRPr lang="en-US" sz="1000" dirty="0"/>
          </a:p>
          <a:p>
            <a:pPr marL="342900" indent="-342900" algn="l">
              <a:lnSpc>
                <a:spcPct val="123000"/>
              </a:lnSpc>
              <a:buSzPct val="100000"/>
              <a:buChar char="•"/>
            </a:pPr>
            <a:r>
              <a:rPr lang="en-US" sz="1000" dirty="0">
                <a:solidFill>
                  <a:srgbClr val="D7D4CC"/>
                </a:solidFill>
                <a:latin typeface="Raleway Medium" pitchFamily="34" charset="0"/>
                <a:ea typeface="Raleway Medium" pitchFamily="34" charset="-122"/>
                <a:cs typeface="Raleway Medium" pitchFamily="34" charset="-120"/>
              </a:rPr>
              <a:t>Lưu lựa chọn ngôn ngữ vào localStorage</a:t>
            </a:r>
            <a:endParaRPr lang="en-US" sz="1000" dirty="0"/>
          </a:p>
        </p:txBody>
      </p:sp>
      <p:sp>
        <p:nvSpPr>
          <p:cNvPr id="8" name="Text 5"/>
          <p:cNvSpPr/>
          <p:nvPr/>
        </p:nvSpPr>
        <p:spPr>
          <a:xfrm>
            <a:off x="455637" y="3734619"/>
            <a:ext cx="1903809" cy="180826"/>
          </a:xfrm>
          <a:prstGeom prst="rect">
            <a:avLst/>
          </a:prstGeom>
          <a:noFill/>
          <a:ln/>
        </p:spPr>
        <p:txBody>
          <a:bodyPr wrap="none" lIns="0" tIns="0" rIns="0" bIns="0" rtlCol="0" anchor="t"/>
          <a:lstStyle/>
          <a:p>
            <a:pPr marL="0" indent="0" algn="l">
              <a:lnSpc>
                <a:spcPct val="104000"/>
              </a:lnSpc>
              <a:buNone/>
            </a:pPr>
            <a:r>
              <a:rPr lang="en-US" sz="1100" b="1" dirty="0">
                <a:solidFill>
                  <a:srgbClr val="FFE14D"/>
                </a:solidFill>
                <a:latin typeface="Comfortaa Bold" pitchFamily="34" charset="0"/>
                <a:ea typeface="Comfortaa Bold" pitchFamily="34" charset="-122"/>
                <a:cs typeface="Comfortaa Bold" pitchFamily="34" charset="-120"/>
              </a:rPr>
              <a:t>Ứng dụng</a:t>
            </a:r>
            <a:endParaRPr lang="en-US" sz="1100" dirty="0"/>
          </a:p>
        </p:txBody>
      </p:sp>
      <p:sp>
        <p:nvSpPr>
          <p:cNvPr id="9" name="Text 6"/>
          <p:cNvSpPr/>
          <p:nvPr/>
        </p:nvSpPr>
        <p:spPr>
          <a:xfrm>
            <a:off x="455637" y="4080197"/>
            <a:ext cx="4803725" cy="652983"/>
          </a:xfrm>
          <a:prstGeom prst="rect">
            <a:avLst/>
          </a:prstGeom>
          <a:noFill/>
          <a:ln/>
        </p:spPr>
        <p:txBody>
          <a:bodyPr wrap="square" lIns="0" tIns="0" rIns="0" bIns="0" rtlCol="0" anchor="t">
            <a:normAutofit/>
          </a:bodyPr>
          <a:lstStyle/>
          <a:p>
            <a:pPr marL="342900" indent="-342900" algn="l">
              <a:lnSpc>
                <a:spcPct val="123000"/>
              </a:lnSpc>
              <a:buSzPct val="100000"/>
              <a:buChar char="•"/>
            </a:pPr>
            <a:r>
              <a:rPr lang="en-US" sz="1000" dirty="0">
                <a:solidFill>
                  <a:srgbClr val="D7D4CC"/>
                </a:solidFill>
                <a:latin typeface="Raleway Medium" pitchFamily="34" charset="0"/>
                <a:ea typeface="Raleway Medium" pitchFamily="34" charset="-122"/>
                <a:cs typeface="Raleway Medium" pitchFamily="34" charset="-120"/>
              </a:rPr>
              <a:t>Navbar, menu, nút bấm, tiêu đề, mô tả sản phẩm</a:t>
            </a:r>
            <a:endParaRPr lang="en-US" sz="1000" dirty="0"/>
          </a:p>
          <a:p>
            <a:pPr marL="342900" indent="-342900" algn="l">
              <a:lnSpc>
                <a:spcPct val="123000"/>
              </a:lnSpc>
              <a:buSzPct val="100000"/>
              <a:buChar char="•"/>
            </a:pPr>
            <a:r>
              <a:rPr lang="en-US" sz="1000" dirty="0">
                <a:solidFill>
                  <a:srgbClr val="D7D4CC"/>
                </a:solidFill>
                <a:latin typeface="Raleway Medium" pitchFamily="34" charset="0"/>
                <a:ea typeface="Raleway Medium" pitchFamily="34" charset="-122"/>
                <a:cs typeface="Raleway Medium" pitchFamily="34" charset="-120"/>
              </a:rPr>
              <a:t>Form labels, placeholders, validation messages</a:t>
            </a:r>
            <a:endParaRPr lang="en-US" sz="1000" dirty="0"/>
          </a:p>
          <a:p>
            <a:pPr marL="342900" indent="-342900" algn="l">
              <a:lnSpc>
                <a:spcPct val="123000"/>
              </a:lnSpc>
              <a:buSzPct val="100000"/>
              <a:buChar char="•"/>
            </a:pPr>
            <a:r>
              <a:rPr lang="en-US" sz="1000" dirty="0">
                <a:solidFill>
                  <a:srgbClr val="D7D4CC"/>
                </a:solidFill>
                <a:latin typeface="Raleway Medium" pitchFamily="34" charset="0"/>
                <a:ea typeface="Raleway Medium" pitchFamily="34" charset="-122"/>
                <a:cs typeface="Raleway Medium" pitchFamily="34" charset="-120"/>
              </a:rPr>
              <a:t>Footer, copyright, contact information</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466627" y="341486"/>
            <a:ext cx="6210746" cy="562570"/>
          </a:xfrm>
          <a:prstGeom prst="rect">
            <a:avLst/>
          </a:prstGeom>
          <a:noFill/>
          <a:ln/>
        </p:spPr>
        <p:txBody>
          <a:bodyPr wrap="square" lIns="0" tIns="0" rIns="0" bIns="0" rtlCol="0" anchor="t">
            <a:normAutofit/>
          </a:bodyPr>
          <a:lstStyle/>
          <a:p>
            <a:pPr marL="0" indent="0" algn="l">
              <a:lnSpc>
                <a:spcPct val="104000"/>
              </a:lnSpc>
              <a:buNone/>
            </a:pPr>
            <a:r>
              <a:rPr lang="en-US" sz="1750" b="1" dirty="0">
                <a:solidFill>
                  <a:srgbClr val="FFE14D"/>
                </a:solidFill>
                <a:latin typeface="Comfortaa Bold" pitchFamily="34" charset="0"/>
                <a:ea typeface="Comfortaa Bold" pitchFamily="34" charset="-122"/>
                <a:cs typeface="Comfortaa Bold" pitchFamily="34" charset="-120"/>
              </a:rPr>
              <a:t>Hiệu ứng Cuộn Trang — Scroll Animations &amp; IntersectionObserver</a:t>
            </a:r>
            <a:endParaRPr lang="en-US" sz="1750" dirty="0"/>
          </a:p>
        </p:txBody>
      </p:sp>
      <p:sp>
        <p:nvSpPr>
          <p:cNvPr id="3" name="Shape 1"/>
          <p:cNvSpPr/>
          <p:nvPr/>
        </p:nvSpPr>
        <p:spPr>
          <a:xfrm>
            <a:off x="1466627" y="1003697"/>
            <a:ext cx="6210746" cy="860375"/>
          </a:xfrm>
          <a:prstGeom prst="roundRect">
            <a:avLst>
              <a:gd name="adj" fmla="val 17654"/>
            </a:avLst>
          </a:prstGeom>
          <a:solidFill>
            <a:srgbClr val="27272B"/>
          </a:solidFill>
          <a:ln w="14288">
            <a:solidFill>
              <a:srgbClr val="5F5F63"/>
            </a:solidFill>
            <a:prstDash val="solid"/>
          </a:ln>
        </p:spPr>
        <p:txBody>
          <a:bodyPr/>
          <a:lstStyle/>
          <a:p>
            <a:endParaRPr lang="en-US"/>
          </a:p>
        </p:txBody>
      </p:sp>
      <p:sp>
        <p:nvSpPr>
          <p:cNvPr id="4" name="Shape 2"/>
          <p:cNvSpPr/>
          <p:nvPr/>
        </p:nvSpPr>
        <p:spPr>
          <a:xfrm>
            <a:off x="1480914" y="1017984"/>
            <a:ext cx="405036" cy="831800"/>
          </a:xfrm>
          <a:prstGeom prst="roundRect">
            <a:avLst>
              <a:gd name="adj" fmla="val 33268"/>
            </a:avLst>
          </a:prstGeom>
          <a:solidFill>
            <a:srgbClr val="46464A"/>
          </a:solidFill>
          <a:ln/>
        </p:spPr>
        <p:txBody>
          <a:bodyPr/>
          <a:lstStyle/>
          <a:p>
            <a:endParaRPr lang="en-US"/>
          </a:p>
        </p:txBody>
      </p:sp>
      <p:sp>
        <p:nvSpPr>
          <p:cNvPr id="5" name="Text 3"/>
          <p:cNvSpPr/>
          <p:nvPr/>
        </p:nvSpPr>
        <p:spPr>
          <a:xfrm>
            <a:off x="1952402" y="1119188"/>
            <a:ext cx="1476449" cy="140643"/>
          </a:xfrm>
          <a:prstGeom prst="rect">
            <a:avLst/>
          </a:prstGeom>
          <a:noFill/>
          <a:ln/>
        </p:spPr>
        <p:txBody>
          <a:bodyPr wrap="none" lIns="0" tIns="0" rIns="0" bIns="0" rtlCol="0" anchor="t"/>
          <a:lstStyle/>
          <a:p>
            <a:pPr marL="0" indent="0" algn="l">
              <a:lnSpc>
                <a:spcPct val="104000"/>
              </a:lnSpc>
              <a:buNone/>
            </a:pPr>
            <a:r>
              <a:rPr lang="en-US" sz="850" b="1" dirty="0">
                <a:solidFill>
                  <a:srgbClr val="D7D4CC"/>
                </a:solidFill>
                <a:latin typeface="Comfortaa Bold" pitchFamily="34" charset="0"/>
                <a:ea typeface="Comfortaa Bold" pitchFamily="34" charset="-122"/>
                <a:cs typeface="Comfortaa Bold" pitchFamily="34" charset="-120"/>
              </a:rPr>
              <a:t>IntersectionObserver API</a:t>
            </a:r>
            <a:endParaRPr lang="en-US" sz="850" dirty="0"/>
          </a:p>
        </p:txBody>
      </p:sp>
      <p:sp>
        <p:nvSpPr>
          <p:cNvPr id="6" name="Text 4"/>
          <p:cNvSpPr/>
          <p:nvPr/>
        </p:nvSpPr>
        <p:spPr>
          <a:xfrm>
            <a:off x="1952402" y="1299642"/>
            <a:ext cx="5609481" cy="448940"/>
          </a:xfrm>
          <a:prstGeom prst="rect">
            <a:avLst/>
          </a:prstGeom>
          <a:noFill/>
          <a:ln/>
        </p:spPr>
        <p:txBody>
          <a:bodyPr wrap="square" lIns="0" tIns="0" rIns="0" bIns="0" rtlCol="0" anchor="t">
            <a:normAutofit/>
          </a:bodyPr>
          <a:lstStyle/>
          <a:p>
            <a:pPr marL="342900" indent="-342900" algn="l">
              <a:lnSpc>
                <a:spcPct val="110000"/>
              </a:lnSpc>
              <a:buSzPct val="100000"/>
              <a:buChar char="•"/>
            </a:pPr>
            <a:r>
              <a:rPr lang="en-US" sz="750" dirty="0">
                <a:solidFill>
                  <a:srgbClr val="D7D4CC"/>
                </a:solidFill>
                <a:latin typeface="Raleway Medium" pitchFamily="34" charset="0"/>
                <a:ea typeface="Raleway Medium" pitchFamily="34" charset="-122"/>
                <a:cs typeface="Raleway Medium" pitchFamily="34" charset="-120"/>
              </a:rPr>
              <a:t>Phát hiện khi phần tử xuất hiện trong viewport</a:t>
            </a:r>
            <a:endParaRPr lang="en-US" sz="750" dirty="0"/>
          </a:p>
          <a:p>
            <a:pPr marL="342900" indent="-342900" algn="l">
              <a:lnSpc>
                <a:spcPct val="110000"/>
              </a:lnSpc>
              <a:buSzPct val="100000"/>
              <a:buChar char="•"/>
            </a:pPr>
            <a:r>
              <a:rPr lang="en-US" sz="750" dirty="0">
                <a:solidFill>
                  <a:srgbClr val="D7D4CC"/>
                </a:solidFill>
                <a:latin typeface="Raleway Medium" pitchFamily="34" charset="0"/>
                <a:ea typeface="Raleway Medium" pitchFamily="34" charset="-122"/>
                <a:cs typeface="Raleway Medium" pitchFamily="34" charset="-120"/>
              </a:rPr>
              <a:t>Kích hoạt hiệu ứng hoạt ảnh (reveal-on-scroll) tự động</a:t>
            </a:r>
            <a:endParaRPr lang="en-US" sz="750" dirty="0"/>
          </a:p>
          <a:p>
            <a:pPr marL="342900" indent="-342900" algn="l">
              <a:lnSpc>
                <a:spcPct val="110000"/>
              </a:lnSpc>
              <a:buSzPct val="100000"/>
              <a:buChar char="•"/>
            </a:pPr>
            <a:r>
              <a:rPr lang="en-US" sz="750" dirty="0">
                <a:solidFill>
                  <a:srgbClr val="D7D4CC"/>
                </a:solidFill>
                <a:latin typeface="Raleway Medium" pitchFamily="34" charset="0"/>
                <a:ea typeface="Raleway Medium" pitchFamily="34" charset="-122"/>
                <a:cs typeface="Raleway Medium" pitchFamily="34" charset="-120"/>
              </a:rPr>
              <a:t>Tối ưu hiệu suất: Không cần lắng nghe scroll event liên tục</a:t>
            </a:r>
            <a:endParaRPr lang="en-US" sz="750" dirty="0"/>
          </a:p>
        </p:txBody>
      </p:sp>
      <p:sp>
        <p:nvSpPr>
          <p:cNvPr id="7" name="Shape 5"/>
          <p:cNvSpPr/>
          <p:nvPr/>
        </p:nvSpPr>
        <p:spPr>
          <a:xfrm>
            <a:off x="1466627" y="1930524"/>
            <a:ext cx="6210746" cy="1017761"/>
          </a:xfrm>
          <a:prstGeom prst="roundRect">
            <a:avLst>
              <a:gd name="adj" fmla="val 14924"/>
            </a:avLst>
          </a:prstGeom>
          <a:solidFill>
            <a:srgbClr val="27272B"/>
          </a:solidFill>
          <a:ln w="14288">
            <a:solidFill>
              <a:srgbClr val="5F5F63"/>
            </a:solidFill>
            <a:prstDash val="solid"/>
          </a:ln>
        </p:spPr>
        <p:txBody>
          <a:bodyPr/>
          <a:lstStyle/>
          <a:p>
            <a:endParaRPr lang="en-US"/>
          </a:p>
        </p:txBody>
      </p:sp>
      <p:sp>
        <p:nvSpPr>
          <p:cNvPr id="8" name="Shape 6"/>
          <p:cNvSpPr/>
          <p:nvPr/>
        </p:nvSpPr>
        <p:spPr>
          <a:xfrm>
            <a:off x="1480914" y="1944812"/>
            <a:ext cx="405036" cy="989186"/>
          </a:xfrm>
          <a:prstGeom prst="roundRect">
            <a:avLst>
              <a:gd name="adj" fmla="val 33268"/>
            </a:avLst>
          </a:prstGeom>
          <a:solidFill>
            <a:srgbClr val="46464A"/>
          </a:solidFill>
          <a:ln/>
        </p:spPr>
        <p:txBody>
          <a:bodyPr/>
          <a:lstStyle/>
          <a:p>
            <a:endParaRPr lang="en-US"/>
          </a:p>
        </p:txBody>
      </p:sp>
      <p:sp>
        <p:nvSpPr>
          <p:cNvPr id="9" name="Text 7"/>
          <p:cNvSpPr/>
          <p:nvPr/>
        </p:nvSpPr>
        <p:spPr>
          <a:xfrm>
            <a:off x="1952402" y="2046015"/>
            <a:ext cx="1307902" cy="140643"/>
          </a:xfrm>
          <a:prstGeom prst="rect">
            <a:avLst/>
          </a:prstGeom>
          <a:noFill/>
          <a:ln/>
        </p:spPr>
        <p:txBody>
          <a:bodyPr wrap="none" lIns="0" tIns="0" rIns="0" bIns="0" rtlCol="0" anchor="t"/>
          <a:lstStyle/>
          <a:p>
            <a:pPr marL="0" indent="0" algn="l">
              <a:lnSpc>
                <a:spcPct val="104000"/>
              </a:lnSpc>
              <a:buNone/>
            </a:pPr>
            <a:r>
              <a:rPr lang="en-US" sz="850" b="1" dirty="0">
                <a:solidFill>
                  <a:srgbClr val="D7D4CC"/>
                </a:solidFill>
                <a:latin typeface="Comfortaa Bold" pitchFamily="34" charset="0"/>
                <a:ea typeface="Comfortaa Bold" pitchFamily="34" charset="-122"/>
                <a:cs typeface="Comfortaa Bold" pitchFamily="34" charset="-120"/>
              </a:rPr>
              <a:t>Các hiệu ứng áp dụng</a:t>
            </a:r>
            <a:endParaRPr lang="en-US" sz="850" dirty="0"/>
          </a:p>
        </p:txBody>
      </p:sp>
      <p:sp>
        <p:nvSpPr>
          <p:cNvPr id="10" name="Text 8"/>
          <p:cNvSpPr/>
          <p:nvPr/>
        </p:nvSpPr>
        <p:spPr>
          <a:xfrm>
            <a:off x="1952402" y="2226469"/>
            <a:ext cx="5609481" cy="606326"/>
          </a:xfrm>
          <a:prstGeom prst="rect">
            <a:avLst/>
          </a:prstGeom>
          <a:noFill/>
          <a:ln/>
        </p:spPr>
        <p:txBody>
          <a:bodyPr wrap="square" lIns="0" tIns="0" rIns="0" bIns="0" rtlCol="0" anchor="t">
            <a:normAutofit/>
          </a:bodyPr>
          <a:lstStyle/>
          <a:p>
            <a:pPr marL="342900" indent="-342900" algn="l">
              <a:lnSpc>
                <a:spcPct val="110000"/>
              </a:lnSpc>
              <a:buSzPct val="100000"/>
              <a:buChar char="•"/>
            </a:pPr>
            <a:r>
              <a:rPr lang="en-US" sz="750" dirty="0">
                <a:solidFill>
                  <a:srgbClr val="D7D4CC"/>
                </a:solidFill>
                <a:latin typeface="Raleway Medium" pitchFamily="34" charset="0"/>
                <a:ea typeface="Raleway Medium" pitchFamily="34" charset="-122"/>
                <a:cs typeface="Raleway Medium" pitchFamily="34" charset="-120"/>
              </a:rPr>
              <a:t>Fade-in: Phần tử mờ dần khi cuộn đến</a:t>
            </a:r>
            <a:endParaRPr lang="en-US" sz="750" dirty="0"/>
          </a:p>
          <a:p>
            <a:pPr marL="342900" indent="-342900" algn="l">
              <a:lnSpc>
                <a:spcPct val="110000"/>
              </a:lnSpc>
              <a:buSzPct val="100000"/>
              <a:buChar char="•"/>
            </a:pPr>
            <a:r>
              <a:rPr lang="en-US" sz="750" dirty="0">
                <a:solidFill>
                  <a:srgbClr val="D7D4CC"/>
                </a:solidFill>
                <a:latin typeface="Raleway Medium" pitchFamily="34" charset="0"/>
                <a:ea typeface="Raleway Medium" pitchFamily="34" charset="-122"/>
                <a:cs typeface="Raleway Medium" pitchFamily="34" charset="-120"/>
              </a:rPr>
              <a:t>Slide-up: Phần tử trượt lên từ dưới</a:t>
            </a:r>
            <a:endParaRPr lang="en-US" sz="750" dirty="0"/>
          </a:p>
          <a:p>
            <a:pPr marL="342900" indent="-342900" algn="l">
              <a:lnSpc>
                <a:spcPct val="110000"/>
              </a:lnSpc>
              <a:buSzPct val="100000"/>
              <a:buChar char="•"/>
            </a:pPr>
            <a:r>
              <a:rPr lang="en-US" sz="750" dirty="0">
                <a:solidFill>
                  <a:srgbClr val="D7D4CC"/>
                </a:solidFill>
                <a:latin typeface="Raleway Medium" pitchFamily="34" charset="0"/>
                <a:ea typeface="Raleway Medium" pitchFamily="34" charset="-122"/>
                <a:cs typeface="Raleway Medium" pitchFamily="34" charset="-120"/>
              </a:rPr>
              <a:t>Scale-up: Phần tử phóng to từ nhỏ</a:t>
            </a:r>
            <a:endParaRPr lang="en-US" sz="750" dirty="0"/>
          </a:p>
          <a:p>
            <a:pPr marL="342900" indent="-342900" algn="l">
              <a:lnSpc>
                <a:spcPct val="110000"/>
              </a:lnSpc>
              <a:buSzPct val="100000"/>
              <a:buChar char="•"/>
            </a:pPr>
            <a:r>
              <a:rPr lang="en-US" sz="750" dirty="0">
                <a:solidFill>
                  <a:srgbClr val="D7D4CC"/>
                </a:solidFill>
                <a:latin typeface="Raleway Medium" pitchFamily="34" charset="0"/>
                <a:ea typeface="Raleway Medium" pitchFamily="34" charset="-122"/>
                <a:cs typeface="Raleway Medium" pitchFamily="34" charset="-120"/>
              </a:rPr>
              <a:t>Glow effect: Neon glow xuất hiện khi cuộn đến</a:t>
            </a:r>
            <a:endParaRPr lang="en-US" sz="750" dirty="0"/>
          </a:p>
        </p:txBody>
      </p:sp>
      <p:sp>
        <p:nvSpPr>
          <p:cNvPr id="11" name="Shape 9"/>
          <p:cNvSpPr/>
          <p:nvPr/>
        </p:nvSpPr>
        <p:spPr>
          <a:xfrm>
            <a:off x="1466627" y="3014737"/>
            <a:ext cx="6210746" cy="860375"/>
          </a:xfrm>
          <a:prstGeom prst="roundRect">
            <a:avLst>
              <a:gd name="adj" fmla="val 17654"/>
            </a:avLst>
          </a:prstGeom>
          <a:solidFill>
            <a:srgbClr val="27272B"/>
          </a:solidFill>
          <a:ln w="14288">
            <a:solidFill>
              <a:srgbClr val="5F5F63"/>
            </a:solidFill>
            <a:prstDash val="solid"/>
          </a:ln>
        </p:spPr>
        <p:txBody>
          <a:bodyPr/>
          <a:lstStyle/>
          <a:p>
            <a:endParaRPr lang="en-US"/>
          </a:p>
        </p:txBody>
      </p:sp>
      <p:sp>
        <p:nvSpPr>
          <p:cNvPr id="12" name="Shape 10"/>
          <p:cNvSpPr/>
          <p:nvPr/>
        </p:nvSpPr>
        <p:spPr>
          <a:xfrm>
            <a:off x="1480914" y="3029024"/>
            <a:ext cx="405036" cy="831800"/>
          </a:xfrm>
          <a:prstGeom prst="roundRect">
            <a:avLst>
              <a:gd name="adj" fmla="val 33268"/>
            </a:avLst>
          </a:prstGeom>
          <a:solidFill>
            <a:srgbClr val="46464A"/>
          </a:solidFill>
          <a:ln/>
        </p:spPr>
        <p:txBody>
          <a:bodyPr/>
          <a:lstStyle/>
          <a:p>
            <a:endParaRPr lang="en-US"/>
          </a:p>
        </p:txBody>
      </p:sp>
      <p:sp>
        <p:nvSpPr>
          <p:cNvPr id="13" name="Text 11"/>
          <p:cNvSpPr/>
          <p:nvPr/>
        </p:nvSpPr>
        <p:spPr>
          <a:xfrm>
            <a:off x="1952402" y="3130228"/>
            <a:ext cx="1336030" cy="140643"/>
          </a:xfrm>
          <a:prstGeom prst="rect">
            <a:avLst/>
          </a:prstGeom>
          <a:noFill/>
          <a:ln/>
        </p:spPr>
        <p:txBody>
          <a:bodyPr wrap="none" lIns="0" tIns="0" rIns="0" bIns="0" rtlCol="0" anchor="t"/>
          <a:lstStyle/>
          <a:p>
            <a:pPr marL="0" indent="0" algn="l">
              <a:lnSpc>
                <a:spcPct val="104000"/>
              </a:lnSpc>
              <a:buNone/>
            </a:pPr>
            <a:r>
              <a:rPr lang="en-US" sz="850" b="1" dirty="0">
                <a:solidFill>
                  <a:srgbClr val="D7D4CC"/>
                </a:solidFill>
                <a:latin typeface="Comfortaa Bold" pitchFamily="34" charset="0"/>
                <a:ea typeface="Comfortaa Bold" pitchFamily="34" charset="-122"/>
                <a:cs typeface="Comfortaa Bold" pitchFamily="34" charset="-120"/>
              </a:rPr>
              <a:t>Cài đặt CSS Keyframes</a:t>
            </a:r>
            <a:endParaRPr lang="en-US" sz="850" dirty="0"/>
          </a:p>
        </p:txBody>
      </p:sp>
      <p:sp>
        <p:nvSpPr>
          <p:cNvPr id="14" name="Text 12"/>
          <p:cNvSpPr/>
          <p:nvPr/>
        </p:nvSpPr>
        <p:spPr>
          <a:xfrm>
            <a:off x="1952402" y="3310682"/>
            <a:ext cx="5609481" cy="448940"/>
          </a:xfrm>
          <a:prstGeom prst="rect">
            <a:avLst/>
          </a:prstGeom>
          <a:noFill/>
          <a:ln/>
        </p:spPr>
        <p:txBody>
          <a:bodyPr wrap="square" lIns="0" tIns="0" rIns="0" bIns="0" rtlCol="0" anchor="t">
            <a:normAutofit/>
          </a:bodyPr>
          <a:lstStyle/>
          <a:p>
            <a:pPr marL="342900" indent="-342900" algn="l">
              <a:lnSpc>
                <a:spcPct val="110000"/>
              </a:lnSpc>
              <a:buSzPct val="100000"/>
              <a:buChar char="•"/>
            </a:pPr>
            <a:r>
              <a:rPr lang="en-US" sz="750" dirty="0">
                <a:solidFill>
                  <a:srgbClr val="D7D4CC"/>
                </a:solidFill>
                <a:latin typeface="Raleway Medium" pitchFamily="34" charset="0"/>
                <a:ea typeface="Raleway Medium" pitchFamily="34" charset="-122"/>
                <a:cs typeface="Raleway Medium" pitchFamily="34" charset="-120"/>
              </a:rPr>
              <a:t>@keyframes fadeIn, slideUp, scaleUp cho các hiệu ứng</a:t>
            </a:r>
            <a:endParaRPr lang="en-US" sz="750" dirty="0"/>
          </a:p>
          <a:p>
            <a:pPr marL="342900" indent="-342900" algn="l">
              <a:lnSpc>
                <a:spcPct val="110000"/>
              </a:lnSpc>
              <a:buSzPct val="100000"/>
              <a:buChar char="•"/>
            </a:pPr>
            <a:r>
              <a:rPr lang="en-US" sz="750" dirty="0">
                <a:solidFill>
                  <a:srgbClr val="D7D4CC"/>
                </a:solidFill>
                <a:latin typeface="Raleway Medium" pitchFamily="34" charset="0"/>
                <a:ea typeface="Raleway Medium" pitchFamily="34" charset="-122"/>
                <a:cs typeface="Raleway Medium" pitchFamily="34" charset="-120"/>
              </a:rPr>
              <a:t>Animation duration: 0.6s - 1s cho hiệu ứng mượt mà</a:t>
            </a:r>
            <a:endParaRPr lang="en-US" sz="750" dirty="0"/>
          </a:p>
          <a:p>
            <a:pPr marL="342900" indent="-342900" algn="l">
              <a:lnSpc>
                <a:spcPct val="110000"/>
              </a:lnSpc>
              <a:buSzPct val="100000"/>
              <a:buChar char="•"/>
            </a:pPr>
            <a:r>
              <a:rPr lang="en-US" sz="750" dirty="0">
                <a:solidFill>
                  <a:srgbClr val="D7D4CC"/>
                </a:solidFill>
                <a:latin typeface="Raleway Medium" pitchFamily="34" charset="0"/>
                <a:ea typeface="Raleway Medium" pitchFamily="34" charset="-122"/>
                <a:cs typeface="Raleway Medium" pitchFamily="34" charset="-120"/>
              </a:rPr>
              <a:t>Delay staggered: Các phần tử xuất hiện lần lượt</a:t>
            </a:r>
            <a:endParaRPr lang="en-US" sz="750" dirty="0"/>
          </a:p>
        </p:txBody>
      </p:sp>
      <p:sp>
        <p:nvSpPr>
          <p:cNvPr id="15" name="Shape 13"/>
          <p:cNvSpPr/>
          <p:nvPr/>
        </p:nvSpPr>
        <p:spPr>
          <a:xfrm>
            <a:off x="1466627" y="3941564"/>
            <a:ext cx="6210746" cy="860375"/>
          </a:xfrm>
          <a:prstGeom prst="roundRect">
            <a:avLst>
              <a:gd name="adj" fmla="val 17654"/>
            </a:avLst>
          </a:prstGeom>
          <a:solidFill>
            <a:srgbClr val="27272B"/>
          </a:solidFill>
          <a:ln w="14288">
            <a:solidFill>
              <a:srgbClr val="5F5F63"/>
            </a:solidFill>
            <a:prstDash val="solid"/>
          </a:ln>
        </p:spPr>
        <p:txBody>
          <a:bodyPr/>
          <a:lstStyle/>
          <a:p>
            <a:endParaRPr lang="en-US"/>
          </a:p>
        </p:txBody>
      </p:sp>
      <p:sp>
        <p:nvSpPr>
          <p:cNvPr id="16" name="Shape 14"/>
          <p:cNvSpPr/>
          <p:nvPr/>
        </p:nvSpPr>
        <p:spPr>
          <a:xfrm>
            <a:off x="1480914" y="3955852"/>
            <a:ext cx="405036" cy="831800"/>
          </a:xfrm>
          <a:prstGeom prst="roundRect">
            <a:avLst>
              <a:gd name="adj" fmla="val 33268"/>
            </a:avLst>
          </a:prstGeom>
          <a:solidFill>
            <a:srgbClr val="46464A"/>
          </a:solidFill>
          <a:ln/>
        </p:spPr>
        <p:txBody>
          <a:bodyPr/>
          <a:lstStyle/>
          <a:p>
            <a:endParaRPr lang="en-US"/>
          </a:p>
        </p:txBody>
      </p:sp>
      <p:sp>
        <p:nvSpPr>
          <p:cNvPr id="17" name="Text 15"/>
          <p:cNvSpPr/>
          <p:nvPr/>
        </p:nvSpPr>
        <p:spPr>
          <a:xfrm>
            <a:off x="1952402" y="4057055"/>
            <a:ext cx="1125141" cy="140643"/>
          </a:xfrm>
          <a:prstGeom prst="rect">
            <a:avLst/>
          </a:prstGeom>
          <a:noFill/>
          <a:ln/>
        </p:spPr>
        <p:txBody>
          <a:bodyPr wrap="none" lIns="0" tIns="0" rIns="0" bIns="0" rtlCol="0" anchor="t"/>
          <a:lstStyle/>
          <a:p>
            <a:pPr marL="0" indent="0" algn="l">
              <a:lnSpc>
                <a:spcPct val="104000"/>
              </a:lnSpc>
              <a:buNone/>
            </a:pPr>
            <a:r>
              <a:rPr lang="en-US" sz="850" b="1" dirty="0">
                <a:solidFill>
                  <a:srgbClr val="D7D4CC"/>
                </a:solidFill>
                <a:latin typeface="Comfortaa Bold" pitchFamily="34" charset="0"/>
                <a:ea typeface="Comfortaa Bold" pitchFamily="34" charset="-122"/>
                <a:cs typeface="Comfortaa Bold" pitchFamily="34" charset="-120"/>
              </a:rPr>
              <a:t>Ứng dụng</a:t>
            </a:r>
            <a:endParaRPr lang="en-US" sz="850" dirty="0"/>
          </a:p>
        </p:txBody>
      </p:sp>
      <p:sp>
        <p:nvSpPr>
          <p:cNvPr id="18" name="Text 16"/>
          <p:cNvSpPr/>
          <p:nvPr/>
        </p:nvSpPr>
        <p:spPr>
          <a:xfrm>
            <a:off x="1952402" y="4237509"/>
            <a:ext cx="5609481" cy="448940"/>
          </a:xfrm>
          <a:prstGeom prst="rect">
            <a:avLst/>
          </a:prstGeom>
          <a:noFill/>
          <a:ln/>
        </p:spPr>
        <p:txBody>
          <a:bodyPr wrap="square" lIns="0" tIns="0" rIns="0" bIns="0" rtlCol="0" anchor="t">
            <a:normAutofit/>
          </a:bodyPr>
          <a:lstStyle/>
          <a:p>
            <a:pPr marL="342900" indent="-342900" algn="l">
              <a:lnSpc>
                <a:spcPct val="110000"/>
              </a:lnSpc>
              <a:buSzPct val="100000"/>
              <a:buChar char="•"/>
            </a:pPr>
            <a:r>
              <a:rPr lang="en-US" sz="750" dirty="0">
                <a:solidFill>
                  <a:srgbClr val="D7D4CC"/>
                </a:solidFill>
                <a:latin typeface="Raleway Medium" pitchFamily="34" charset="0"/>
                <a:ea typeface="Raleway Medium" pitchFamily="34" charset="-122"/>
                <a:cs typeface="Raleway Medium" pitchFamily="34" charset="-120"/>
              </a:rPr>
              <a:t>Product cards, section headings, feature boxes</a:t>
            </a:r>
            <a:endParaRPr lang="en-US" sz="750" dirty="0"/>
          </a:p>
          <a:p>
            <a:pPr marL="342900" indent="-342900" algn="l">
              <a:lnSpc>
                <a:spcPct val="110000"/>
              </a:lnSpc>
              <a:buSzPct val="100000"/>
              <a:buChar char="•"/>
            </a:pPr>
            <a:r>
              <a:rPr lang="en-US" sz="750" dirty="0">
                <a:solidFill>
                  <a:srgbClr val="D7D4CC"/>
                </a:solidFill>
                <a:latin typeface="Raleway Medium" pitchFamily="34" charset="0"/>
                <a:ea typeface="Raleway Medium" pitchFamily="34" charset="-122"/>
                <a:cs typeface="Raleway Medium" pitchFamily="34" charset="-120"/>
              </a:rPr>
              <a:t>Hero banner splash screen</a:t>
            </a:r>
            <a:endParaRPr lang="en-US" sz="750" dirty="0"/>
          </a:p>
          <a:p>
            <a:pPr marL="342900" indent="-342900" algn="l">
              <a:lnSpc>
                <a:spcPct val="110000"/>
              </a:lnSpc>
              <a:buSzPct val="100000"/>
              <a:buChar char="•"/>
            </a:pPr>
            <a:r>
              <a:rPr lang="en-US" sz="750" dirty="0">
                <a:solidFill>
                  <a:srgbClr val="D7D4CC"/>
                </a:solidFill>
                <a:latin typeface="Raleway Medium" pitchFamily="34" charset="0"/>
                <a:ea typeface="Raleway Medium" pitchFamily="34" charset="-122"/>
                <a:cs typeface="Raleway Medium" pitchFamily="34" charset="-120"/>
              </a:rPr>
              <a:t>Carousel transitions</a:t>
            </a:r>
            <a:endParaRPr lang="en-US" sz="750" dirty="0"/>
          </a:p>
        </p:txBody>
      </p:sp>
      <p:sp>
        <p:nvSpPr>
          <p:cNvPr id="22" name="Rectangle 21">
            <a:extLst>
              <a:ext uri="{FF2B5EF4-FFF2-40B4-BE49-F238E27FC236}">
                <a16:creationId xmlns:a16="http://schemas.microsoft.com/office/drawing/2014/main" id="{7AC54EEB-98F4-C813-BAD3-B956065D3AA3}"/>
              </a:ext>
            </a:extLst>
          </p:cNvPr>
          <p:cNvSpPr/>
          <p:nvPr/>
        </p:nvSpPr>
        <p:spPr>
          <a:xfrm>
            <a:off x="8023122" y="4855146"/>
            <a:ext cx="1120877" cy="288354"/>
          </a:xfrm>
          <a:prstGeom prst="rect">
            <a:avLst/>
          </a:prstGeom>
          <a:solidFill>
            <a:srgbClr val="2727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2000" cy="5143500"/>
          </a:xfrm>
          <a:prstGeom prst="rect">
            <a:avLst/>
          </a:prstGeom>
        </p:spPr>
      </p:pic>
      <p:sp>
        <p:nvSpPr>
          <p:cNvPr id="3" name="Text 0"/>
          <p:cNvSpPr/>
          <p:nvPr/>
        </p:nvSpPr>
        <p:spPr>
          <a:xfrm>
            <a:off x="4917951" y="306288"/>
            <a:ext cx="3880098" cy="549176"/>
          </a:xfrm>
          <a:prstGeom prst="rect">
            <a:avLst/>
          </a:prstGeom>
          <a:noFill/>
          <a:ln/>
        </p:spPr>
        <p:txBody>
          <a:bodyPr wrap="square" lIns="0" tIns="0" rIns="0" bIns="0" rtlCol="0" anchor="t">
            <a:normAutofit/>
          </a:bodyPr>
          <a:lstStyle/>
          <a:p>
            <a:pPr marL="0" indent="0" algn="l">
              <a:lnSpc>
                <a:spcPct val="104000"/>
              </a:lnSpc>
              <a:buNone/>
            </a:pPr>
            <a:r>
              <a:rPr lang="en-US" sz="1700" b="1" dirty="0">
                <a:solidFill>
                  <a:srgbClr val="FFE14D"/>
                </a:solidFill>
                <a:latin typeface="Comfortaa Bold" pitchFamily="34" charset="0"/>
                <a:ea typeface="Comfortaa Bold" pitchFamily="34" charset="-122"/>
                <a:cs typeface="Comfortaa Bold" pitchFamily="34" charset="-120"/>
              </a:rPr>
              <a:t>Cấu trúc Dữ liệu Sản phẩm — Phân loại &amp; Quản lý</a:t>
            </a:r>
            <a:endParaRPr lang="en-US" sz="1700" dirty="0"/>
          </a:p>
        </p:txBody>
      </p:sp>
      <p:sp>
        <p:nvSpPr>
          <p:cNvPr id="4" name="Shape 1"/>
          <p:cNvSpPr/>
          <p:nvPr/>
        </p:nvSpPr>
        <p:spPr>
          <a:xfrm>
            <a:off x="4917951" y="950416"/>
            <a:ext cx="3880098" cy="1138386"/>
          </a:xfrm>
          <a:prstGeom prst="roundRect">
            <a:avLst>
              <a:gd name="adj" fmla="val 13025"/>
            </a:avLst>
          </a:prstGeom>
          <a:solidFill>
            <a:srgbClr val="27272B"/>
          </a:solidFill>
          <a:ln w="14288">
            <a:solidFill>
              <a:srgbClr val="5F5F63"/>
            </a:solidFill>
            <a:prstDash val="solid"/>
          </a:ln>
        </p:spPr>
        <p:txBody>
          <a:bodyPr/>
          <a:lstStyle/>
          <a:p>
            <a:endParaRPr lang="en-US"/>
          </a:p>
        </p:txBody>
      </p:sp>
      <p:sp>
        <p:nvSpPr>
          <p:cNvPr id="5" name="Shape 2"/>
          <p:cNvSpPr/>
          <p:nvPr/>
        </p:nvSpPr>
        <p:spPr>
          <a:xfrm>
            <a:off x="4932238" y="964704"/>
            <a:ext cx="395362" cy="1109811"/>
          </a:xfrm>
          <a:prstGeom prst="roundRect">
            <a:avLst>
              <a:gd name="adj" fmla="val 33168"/>
            </a:avLst>
          </a:prstGeom>
          <a:solidFill>
            <a:srgbClr val="46464A"/>
          </a:solidFill>
          <a:ln/>
        </p:spPr>
        <p:txBody>
          <a:bodyPr/>
          <a:lstStyle/>
          <a:p>
            <a:endParaRPr lang="en-US"/>
          </a:p>
        </p:txBody>
      </p:sp>
      <p:sp>
        <p:nvSpPr>
          <p:cNvPr id="6" name="Text 3"/>
          <p:cNvSpPr/>
          <p:nvPr/>
        </p:nvSpPr>
        <p:spPr>
          <a:xfrm>
            <a:off x="5390927" y="1063526"/>
            <a:ext cx="1153418" cy="137294"/>
          </a:xfrm>
          <a:prstGeom prst="rect">
            <a:avLst/>
          </a:prstGeom>
          <a:noFill/>
          <a:ln/>
        </p:spPr>
        <p:txBody>
          <a:bodyPr wrap="none" lIns="0" tIns="0" rIns="0" bIns="0" rtlCol="0" anchor="t"/>
          <a:lstStyle/>
          <a:p>
            <a:pPr marL="0" indent="0" algn="l">
              <a:lnSpc>
                <a:spcPct val="104000"/>
              </a:lnSpc>
              <a:buNone/>
            </a:pPr>
            <a:r>
              <a:rPr lang="en-US" sz="850" b="1" dirty="0">
                <a:solidFill>
                  <a:srgbClr val="D7D4CC"/>
                </a:solidFill>
                <a:latin typeface="Comfortaa Bold" pitchFamily="34" charset="0"/>
                <a:ea typeface="Comfortaa Bold" pitchFamily="34" charset="-122"/>
                <a:cs typeface="Comfortaa Bold" pitchFamily="34" charset="-120"/>
              </a:rPr>
              <a:t>Phân loại Sản phẩm</a:t>
            </a:r>
            <a:endParaRPr lang="en-US" sz="850" dirty="0"/>
          </a:p>
        </p:txBody>
      </p:sp>
      <p:sp>
        <p:nvSpPr>
          <p:cNvPr id="7" name="Text 4"/>
          <p:cNvSpPr/>
          <p:nvPr/>
        </p:nvSpPr>
        <p:spPr>
          <a:xfrm>
            <a:off x="5390927" y="1238771"/>
            <a:ext cx="3294013" cy="736922"/>
          </a:xfrm>
          <a:prstGeom prst="rect">
            <a:avLst/>
          </a:prstGeom>
          <a:noFill/>
          <a:ln/>
        </p:spPr>
        <p:txBody>
          <a:bodyPr wrap="square" lIns="0" tIns="0" rIns="0" bIns="0" rtlCol="0" anchor="t">
            <a:normAutofit/>
          </a:bodyPr>
          <a:lstStyle/>
          <a:p>
            <a:pPr marL="342900" indent="-342900" algn="l">
              <a:lnSpc>
                <a:spcPct val="109000"/>
              </a:lnSpc>
              <a:buSzPct val="100000"/>
              <a:buChar char="•"/>
            </a:pPr>
            <a:r>
              <a:rPr lang="en-US" sz="750" dirty="0">
                <a:solidFill>
                  <a:srgbClr val="D7D4CC"/>
                </a:solidFill>
                <a:latin typeface="Raleway Medium" pitchFamily="34" charset="0"/>
                <a:ea typeface="Raleway Medium" pitchFamily="34" charset="-122"/>
                <a:cs typeface="Raleway Medium" pitchFamily="34" charset="-120"/>
              </a:rPr>
              <a:t>Xe đạp thể thao (Road bikes)</a:t>
            </a:r>
            <a:endParaRPr lang="en-US" sz="750" dirty="0"/>
          </a:p>
          <a:p>
            <a:pPr marL="342900" indent="-342900" algn="l">
              <a:lnSpc>
                <a:spcPct val="109000"/>
              </a:lnSpc>
              <a:buSzPct val="100000"/>
              <a:buChar char="•"/>
            </a:pPr>
            <a:r>
              <a:rPr lang="en-US" sz="750" dirty="0">
                <a:solidFill>
                  <a:srgbClr val="D7D4CC"/>
                </a:solidFill>
                <a:latin typeface="Raleway Medium" pitchFamily="34" charset="0"/>
                <a:ea typeface="Raleway Medium" pitchFamily="34" charset="-122"/>
                <a:cs typeface="Raleway Medium" pitchFamily="34" charset="-120"/>
              </a:rPr>
              <a:t>Xe đạp trẻ em (Kids bikes)</a:t>
            </a:r>
            <a:endParaRPr lang="en-US" sz="750" dirty="0"/>
          </a:p>
          <a:p>
            <a:pPr marL="342900" indent="-342900" algn="l">
              <a:lnSpc>
                <a:spcPct val="109000"/>
              </a:lnSpc>
              <a:buSzPct val="100000"/>
              <a:buChar char="•"/>
            </a:pPr>
            <a:r>
              <a:rPr lang="en-US" sz="750" dirty="0">
                <a:solidFill>
                  <a:srgbClr val="D7D4CC"/>
                </a:solidFill>
                <a:latin typeface="Raleway Medium" pitchFamily="34" charset="0"/>
                <a:ea typeface="Raleway Medium" pitchFamily="34" charset="-122"/>
                <a:cs typeface="Raleway Medium" pitchFamily="34" charset="-120"/>
              </a:rPr>
              <a:t>Xe địa hình MTB (Mountain bikes)</a:t>
            </a:r>
            <a:endParaRPr lang="en-US" sz="750" dirty="0"/>
          </a:p>
          <a:p>
            <a:pPr marL="342900" indent="-342900" algn="l">
              <a:lnSpc>
                <a:spcPct val="109000"/>
              </a:lnSpc>
              <a:buSzPct val="100000"/>
              <a:buChar char="•"/>
            </a:pPr>
            <a:r>
              <a:rPr lang="en-US" sz="750" dirty="0">
                <a:solidFill>
                  <a:srgbClr val="D7D4CC"/>
                </a:solidFill>
                <a:latin typeface="Raleway Medium" pitchFamily="34" charset="0"/>
                <a:ea typeface="Raleway Medium" pitchFamily="34" charset="-122"/>
                <a:cs typeface="Raleway Medium" pitchFamily="34" charset="-120"/>
              </a:rPr>
              <a:t>Xe đạp gấp (Folding bikes)</a:t>
            </a:r>
            <a:endParaRPr lang="en-US" sz="750" dirty="0"/>
          </a:p>
          <a:p>
            <a:pPr marL="342900" indent="-342900" algn="l">
              <a:lnSpc>
                <a:spcPct val="109000"/>
              </a:lnSpc>
              <a:buSzPct val="100000"/>
              <a:buChar char="•"/>
            </a:pPr>
            <a:r>
              <a:rPr lang="en-US" sz="750" dirty="0">
                <a:solidFill>
                  <a:srgbClr val="D7D4CC"/>
                </a:solidFill>
                <a:latin typeface="Raleway Medium" pitchFamily="34" charset="0"/>
                <a:ea typeface="Raleway Medium" pitchFamily="34" charset="-122"/>
                <a:cs typeface="Raleway Medium" pitchFamily="34" charset="-120"/>
              </a:rPr>
              <a:t>Phụ kiện (Accessories)</a:t>
            </a:r>
            <a:endParaRPr lang="en-US" sz="750" dirty="0"/>
          </a:p>
        </p:txBody>
      </p:sp>
      <p:sp>
        <p:nvSpPr>
          <p:cNvPr id="8" name="Shape 5"/>
          <p:cNvSpPr/>
          <p:nvPr/>
        </p:nvSpPr>
        <p:spPr>
          <a:xfrm>
            <a:off x="4917951" y="2152129"/>
            <a:ext cx="3880098" cy="1505396"/>
          </a:xfrm>
          <a:prstGeom prst="roundRect">
            <a:avLst>
              <a:gd name="adj" fmla="val 9850"/>
            </a:avLst>
          </a:prstGeom>
          <a:solidFill>
            <a:srgbClr val="27272B"/>
          </a:solidFill>
          <a:ln w="14288">
            <a:solidFill>
              <a:srgbClr val="5F5F63"/>
            </a:solidFill>
            <a:prstDash val="solid"/>
          </a:ln>
        </p:spPr>
        <p:txBody>
          <a:bodyPr/>
          <a:lstStyle/>
          <a:p>
            <a:endParaRPr lang="en-US"/>
          </a:p>
        </p:txBody>
      </p:sp>
      <p:sp>
        <p:nvSpPr>
          <p:cNvPr id="9" name="Shape 6"/>
          <p:cNvSpPr/>
          <p:nvPr/>
        </p:nvSpPr>
        <p:spPr>
          <a:xfrm>
            <a:off x="4932238" y="2166417"/>
            <a:ext cx="395362" cy="1476821"/>
          </a:xfrm>
          <a:prstGeom prst="roundRect">
            <a:avLst>
              <a:gd name="adj" fmla="val 33168"/>
            </a:avLst>
          </a:prstGeom>
          <a:solidFill>
            <a:srgbClr val="46464A"/>
          </a:solidFill>
          <a:ln/>
        </p:spPr>
        <p:txBody>
          <a:bodyPr/>
          <a:lstStyle/>
          <a:p>
            <a:endParaRPr lang="en-US"/>
          </a:p>
        </p:txBody>
      </p:sp>
      <p:sp>
        <p:nvSpPr>
          <p:cNvPr id="10" name="Text 7"/>
          <p:cNvSpPr/>
          <p:nvPr/>
        </p:nvSpPr>
        <p:spPr>
          <a:xfrm>
            <a:off x="5390927" y="2265238"/>
            <a:ext cx="1302990" cy="137294"/>
          </a:xfrm>
          <a:prstGeom prst="rect">
            <a:avLst/>
          </a:prstGeom>
          <a:noFill/>
          <a:ln/>
        </p:spPr>
        <p:txBody>
          <a:bodyPr wrap="none" lIns="0" tIns="0" rIns="0" bIns="0" rtlCol="0" anchor="t"/>
          <a:lstStyle/>
          <a:p>
            <a:pPr marL="0" indent="0" algn="l">
              <a:lnSpc>
                <a:spcPct val="104000"/>
              </a:lnSpc>
              <a:buNone/>
            </a:pPr>
            <a:r>
              <a:rPr lang="en-US" sz="850" b="1" dirty="0">
                <a:solidFill>
                  <a:srgbClr val="D7D4CC"/>
                </a:solidFill>
                <a:latin typeface="Comfortaa Bold" pitchFamily="34" charset="0"/>
                <a:ea typeface="Comfortaa Bold" pitchFamily="34" charset="-122"/>
                <a:cs typeface="Comfortaa Bold" pitchFamily="34" charset="-120"/>
              </a:rPr>
              <a:t>Cấu trúc Dữ liệu JSON</a:t>
            </a:r>
            <a:endParaRPr lang="en-US" sz="850" dirty="0"/>
          </a:p>
        </p:txBody>
      </p:sp>
      <p:sp>
        <p:nvSpPr>
          <p:cNvPr id="11" name="Text 8"/>
          <p:cNvSpPr/>
          <p:nvPr/>
        </p:nvSpPr>
        <p:spPr>
          <a:xfrm>
            <a:off x="5390927" y="2440484"/>
            <a:ext cx="3294013" cy="1103933"/>
          </a:xfrm>
          <a:prstGeom prst="rect">
            <a:avLst/>
          </a:prstGeom>
          <a:noFill/>
          <a:ln/>
        </p:spPr>
        <p:txBody>
          <a:bodyPr wrap="square" lIns="0" tIns="0" rIns="0" bIns="0" rtlCol="0" anchor="t">
            <a:normAutofit/>
          </a:bodyPr>
          <a:lstStyle/>
          <a:p>
            <a:pPr marL="342900" indent="-342900" algn="l">
              <a:lnSpc>
                <a:spcPct val="109000"/>
              </a:lnSpc>
              <a:buSzPct val="100000"/>
              <a:buChar char="•"/>
            </a:pPr>
            <a:r>
              <a:rPr lang="en-US" sz="750" dirty="0">
                <a:solidFill>
                  <a:srgbClr val="D7D4CC"/>
                </a:solidFill>
                <a:latin typeface="Raleway Medium" pitchFamily="34" charset="0"/>
                <a:ea typeface="Raleway Medium" pitchFamily="34" charset="-122"/>
                <a:cs typeface="Raleway Medium" pitchFamily="34" charset="-120"/>
              </a:rPr>
              <a:t>Dữ liệu mảng (Array/JSON): Chỉ lưu các trường cơ bản để hiện danh sách: {id, name, category, price, image}</a:t>
            </a:r>
            <a:endParaRPr lang="en-US" sz="750" dirty="0"/>
          </a:p>
          <a:p>
            <a:pPr marL="342900" indent="-342900" algn="l">
              <a:lnSpc>
                <a:spcPct val="109000"/>
              </a:lnSpc>
              <a:buSzPct val="100000"/>
              <a:buChar char="•"/>
            </a:pPr>
            <a:r>
              <a:rPr lang="en-US" sz="750" dirty="0">
                <a:solidFill>
                  <a:srgbClr val="D7D4CC"/>
                </a:solidFill>
                <a:latin typeface="Raleway Medium" pitchFamily="34" charset="0"/>
                <a:ea typeface="Raleway Medium" pitchFamily="34" charset="-122"/>
                <a:cs typeface="Raleway Medium" pitchFamily="34" charset="-120"/>
              </a:rPr>
              <a:t>Trang Chi tiết: Các thông số (Specs) như kích thước, màu sắc, vật liệu... được viết trực tiếp bên trong trang HTML chi tiết (chi-tiet-*.html) để thân thiện với SEO</a:t>
            </a:r>
            <a:endParaRPr lang="en-US" sz="750" dirty="0"/>
          </a:p>
          <a:p>
            <a:pPr marL="342900" indent="-342900" algn="l">
              <a:lnSpc>
                <a:spcPct val="109000"/>
              </a:lnSpc>
              <a:buSzPct val="100000"/>
              <a:buChar char="•"/>
            </a:pPr>
            <a:r>
              <a:rPr lang="en-US" sz="750" dirty="0">
                <a:solidFill>
                  <a:srgbClr val="D7D4CC"/>
                </a:solidFill>
                <a:latin typeface="Raleway Medium" pitchFamily="34" charset="0"/>
                <a:ea typeface="Raleway Medium" pitchFamily="34" charset="-122"/>
                <a:cs typeface="Raleway Medium" pitchFamily="34" charset="-120"/>
              </a:rPr>
              <a:t>Lưu trữ: Dữ liệu được lưu thẳng vào biến mảng trong JavaScript</a:t>
            </a:r>
            <a:endParaRPr lang="en-US" sz="750" dirty="0"/>
          </a:p>
          <a:p>
            <a:pPr marL="342900" indent="-342900" algn="l">
              <a:lnSpc>
                <a:spcPct val="109000"/>
              </a:lnSpc>
              <a:buSzPct val="100000"/>
              <a:buChar char="•"/>
            </a:pPr>
            <a:r>
              <a:rPr lang="en-US" sz="750" dirty="0">
                <a:solidFill>
                  <a:srgbClr val="D7D4CC"/>
                </a:solidFill>
                <a:latin typeface="Raleway Medium" pitchFamily="34" charset="0"/>
                <a:ea typeface="Raleway Medium" pitchFamily="34" charset="-122"/>
                <a:cs typeface="Raleway Medium" pitchFamily="34" charset="-120"/>
              </a:rPr>
              <a:t>Tối ưu: Hoàn toàn không dùng Database, tối ưu tốc độ load cho trang web tĩnh (Static Web)</a:t>
            </a:r>
            <a:endParaRPr lang="en-US" sz="750" dirty="0"/>
          </a:p>
        </p:txBody>
      </p:sp>
      <p:sp>
        <p:nvSpPr>
          <p:cNvPr id="12" name="Shape 9"/>
          <p:cNvSpPr/>
          <p:nvPr/>
        </p:nvSpPr>
        <p:spPr>
          <a:xfrm>
            <a:off x="4917951" y="3720852"/>
            <a:ext cx="3880098" cy="1116285"/>
          </a:xfrm>
          <a:prstGeom prst="roundRect">
            <a:avLst>
              <a:gd name="adj" fmla="val 13283"/>
            </a:avLst>
          </a:prstGeom>
          <a:solidFill>
            <a:srgbClr val="27272B"/>
          </a:solidFill>
          <a:ln w="14288">
            <a:solidFill>
              <a:srgbClr val="5F5F63"/>
            </a:solidFill>
            <a:prstDash val="solid"/>
          </a:ln>
        </p:spPr>
        <p:txBody>
          <a:bodyPr/>
          <a:lstStyle/>
          <a:p>
            <a:endParaRPr lang="en-US"/>
          </a:p>
        </p:txBody>
      </p:sp>
      <p:sp>
        <p:nvSpPr>
          <p:cNvPr id="13" name="Shape 10"/>
          <p:cNvSpPr/>
          <p:nvPr/>
        </p:nvSpPr>
        <p:spPr>
          <a:xfrm>
            <a:off x="4932238" y="3735139"/>
            <a:ext cx="395362" cy="1087710"/>
          </a:xfrm>
          <a:prstGeom prst="roundRect">
            <a:avLst>
              <a:gd name="adj" fmla="val 33168"/>
            </a:avLst>
          </a:prstGeom>
          <a:solidFill>
            <a:srgbClr val="46464A"/>
          </a:solidFill>
          <a:ln/>
        </p:spPr>
        <p:txBody>
          <a:bodyPr/>
          <a:lstStyle/>
          <a:p>
            <a:endParaRPr lang="en-US"/>
          </a:p>
        </p:txBody>
      </p:sp>
      <p:sp>
        <p:nvSpPr>
          <p:cNvPr id="14" name="Text 11"/>
          <p:cNvSpPr/>
          <p:nvPr/>
        </p:nvSpPr>
        <p:spPr>
          <a:xfrm>
            <a:off x="5390927" y="3833961"/>
            <a:ext cx="1098352" cy="137294"/>
          </a:xfrm>
          <a:prstGeom prst="rect">
            <a:avLst/>
          </a:prstGeom>
          <a:noFill/>
          <a:ln/>
        </p:spPr>
        <p:txBody>
          <a:bodyPr wrap="none" lIns="0" tIns="0" rIns="0" bIns="0" rtlCol="0" anchor="t"/>
          <a:lstStyle/>
          <a:p>
            <a:pPr marL="0" indent="0" algn="l">
              <a:lnSpc>
                <a:spcPct val="104000"/>
              </a:lnSpc>
              <a:buNone/>
            </a:pPr>
            <a:r>
              <a:rPr lang="en-US" sz="850" b="1" dirty="0">
                <a:solidFill>
                  <a:srgbClr val="D7D4CC"/>
                </a:solidFill>
                <a:latin typeface="Comfortaa Bold" pitchFamily="34" charset="0"/>
                <a:ea typeface="Comfortaa Bold" pitchFamily="34" charset="-122"/>
                <a:cs typeface="Comfortaa Bold" pitchFamily="34" charset="-120"/>
              </a:rPr>
              <a:t>Hiển thị Sản phẩm</a:t>
            </a:r>
            <a:endParaRPr lang="en-US" sz="850" dirty="0"/>
          </a:p>
        </p:txBody>
      </p:sp>
      <p:sp>
        <p:nvSpPr>
          <p:cNvPr id="15" name="Text 12"/>
          <p:cNvSpPr/>
          <p:nvPr/>
        </p:nvSpPr>
        <p:spPr>
          <a:xfrm>
            <a:off x="5390927" y="4009206"/>
            <a:ext cx="3294013" cy="714821"/>
          </a:xfrm>
          <a:prstGeom prst="rect">
            <a:avLst/>
          </a:prstGeom>
          <a:noFill/>
          <a:ln/>
        </p:spPr>
        <p:txBody>
          <a:bodyPr wrap="square" lIns="0" tIns="0" rIns="0" bIns="0" rtlCol="0" anchor="t">
            <a:normAutofit/>
          </a:bodyPr>
          <a:lstStyle/>
          <a:p>
            <a:pPr marL="342900" indent="-342900" algn="l">
              <a:lnSpc>
                <a:spcPct val="109000"/>
              </a:lnSpc>
              <a:buSzPct val="100000"/>
              <a:buChar char="•"/>
            </a:pPr>
            <a:r>
              <a:rPr lang="en-US" sz="750" dirty="0">
                <a:solidFill>
                  <a:srgbClr val="D7D4CC"/>
                </a:solidFill>
                <a:latin typeface="Raleway Medium" pitchFamily="34" charset="0"/>
                <a:ea typeface="Raleway Medium" pitchFamily="34" charset="-122"/>
                <a:cs typeface="Raleway Medium" pitchFamily="34" charset="-120"/>
              </a:rPr>
              <a:t>Danh sách sản phẩm: Grid layout với Bootstrap col-lg-4, col-md-6, col-12</a:t>
            </a:r>
            <a:endParaRPr lang="en-US" sz="750" dirty="0"/>
          </a:p>
          <a:p>
            <a:pPr marL="342900" indent="-342900" algn="l">
              <a:lnSpc>
                <a:spcPct val="109000"/>
              </a:lnSpc>
              <a:buSzPct val="100000"/>
              <a:buChar char="•"/>
            </a:pPr>
            <a:r>
              <a:rPr lang="en-US" sz="750" dirty="0">
                <a:solidFill>
                  <a:srgbClr val="D7D4CC"/>
                </a:solidFill>
                <a:latin typeface="Raleway Medium" pitchFamily="34" charset="0"/>
                <a:ea typeface="Raleway Medium" pitchFamily="34" charset="-122"/>
                <a:cs typeface="Raleway Medium" pitchFamily="34" charset="-120"/>
              </a:rPr>
              <a:t>Chi tiết sản phẩm: Trang riêng với hình ảnh lớn, specs, reviews</a:t>
            </a:r>
            <a:endParaRPr lang="en-US" sz="750" dirty="0"/>
          </a:p>
          <a:p>
            <a:pPr marL="342900" indent="-342900" algn="l">
              <a:lnSpc>
                <a:spcPct val="109000"/>
              </a:lnSpc>
              <a:buSzPct val="100000"/>
              <a:buChar char="•"/>
            </a:pPr>
            <a:r>
              <a:rPr lang="en-US" sz="750" dirty="0">
                <a:solidFill>
                  <a:srgbClr val="D7D4CC"/>
                </a:solidFill>
                <a:latin typeface="Raleway Medium" pitchFamily="34" charset="0"/>
                <a:ea typeface="Raleway Medium" pitchFamily="34" charset="-122"/>
                <a:cs typeface="Raleway Medium" pitchFamily="34" charset="-120"/>
              </a:rPr>
              <a:t>Carousel: Hiển thị sản phẩm nổi bật</a:t>
            </a:r>
            <a:endParaRPr lang="en-US" sz="750" dirty="0"/>
          </a:p>
          <a:p>
            <a:pPr marL="342900" indent="-342900" algn="l">
              <a:lnSpc>
                <a:spcPct val="109000"/>
              </a:lnSpc>
              <a:buSzPct val="100000"/>
              <a:buChar char="•"/>
            </a:pPr>
            <a:r>
              <a:rPr lang="en-US" sz="750" dirty="0">
                <a:solidFill>
                  <a:srgbClr val="D7D4CC"/>
                </a:solidFill>
                <a:latin typeface="Raleway Medium" pitchFamily="34" charset="0"/>
                <a:ea typeface="Raleway Medium" pitchFamily="34" charset="-122"/>
                <a:cs typeface="Raleway Medium" pitchFamily="34" charset="-120"/>
              </a:rPr>
              <a:t>Filter &amp; Search: Tìm kiếm theo danh mục, giá, tên</a:t>
            </a:r>
            <a:endParaRPr lang="en-US" sz="750" dirty="0"/>
          </a:p>
        </p:txBody>
      </p:sp>
      <p:sp>
        <p:nvSpPr>
          <p:cNvPr id="17" name="Rectangle 16">
            <a:extLst>
              <a:ext uri="{FF2B5EF4-FFF2-40B4-BE49-F238E27FC236}">
                <a16:creationId xmlns:a16="http://schemas.microsoft.com/office/drawing/2014/main" id="{70F11651-85B2-D73A-6387-5341CD366DCF}"/>
              </a:ext>
            </a:extLst>
          </p:cNvPr>
          <p:cNvSpPr/>
          <p:nvPr/>
        </p:nvSpPr>
        <p:spPr>
          <a:xfrm>
            <a:off x="8023122" y="4855146"/>
            <a:ext cx="1120877" cy="288354"/>
          </a:xfrm>
          <a:prstGeom prst="rect">
            <a:avLst/>
          </a:prstGeom>
          <a:solidFill>
            <a:srgbClr val="2727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0" y="0"/>
            <a:ext cx="4572000" cy="5143500"/>
          </a:xfrm>
          <a:prstGeom prst="rect">
            <a:avLst/>
          </a:prstGeom>
        </p:spPr>
      </p:pic>
      <p:sp>
        <p:nvSpPr>
          <p:cNvPr id="3" name="Text 0"/>
          <p:cNvSpPr/>
          <p:nvPr/>
        </p:nvSpPr>
        <p:spPr>
          <a:xfrm>
            <a:off x="337542" y="277267"/>
            <a:ext cx="3896916" cy="535781"/>
          </a:xfrm>
          <a:prstGeom prst="rect">
            <a:avLst/>
          </a:prstGeom>
          <a:noFill/>
          <a:ln/>
        </p:spPr>
        <p:txBody>
          <a:bodyPr wrap="square" lIns="0" tIns="0" rIns="0" bIns="0" rtlCol="0" anchor="t">
            <a:normAutofit/>
          </a:bodyPr>
          <a:lstStyle/>
          <a:p>
            <a:pPr marL="0" indent="0" algn="l">
              <a:lnSpc>
                <a:spcPct val="104000"/>
              </a:lnSpc>
              <a:buNone/>
            </a:pPr>
            <a:r>
              <a:rPr lang="en-US" sz="1650" b="1" dirty="0">
                <a:solidFill>
                  <a:srgbClr val="FFE14D"/>
                </a:solidFill>
                <a:latin typeface="Comfortaa Bold" pitchFamily="34" charset="0"/>
                <a:ea typeface="Comfortaa Bold" pitchFamily="34" charset="-122"/>
                <a:cs typeface="Comfortaa Bold" pitchFamily="34" charset="-120"/>
              </a:rPr>
              <a:t>Form &amp; Validation — Đăng nhập &amp; Đăng ký</a:t>
            </a:r>
            <a:endParaRPr lang="en-US" sz="1650" dirty="0"/>
          </a:p>
        </p:txBody>
      </p:sp>
      <p:sp>
        <p:nvSpPr>
          <p:cNvPr id="4" name="Shape 1"/>
          <p:cNvSpPr/>
          <p:nvPr/>
        </p:nvSpPr>
        <p:spPr>
          <a:xfrm>
            <a:off x="337542" y="903461"/>
            <a:ext cx="3896916" cy="1081311"/>
          </a:xfrm>
          <a:prstGeom prst="roundRect">
            <a:avLst>
              <a:gd name="adj" fmla="val 13378"/>
            </a:avLst>
          </a:prstGeom>
          <a:solidFill>
            <a:srgbClr val="27272B"/>
          </a:solidFill>
          <a:ln w="14288">
            <a:solidFill>
              <a:srgbClr val="5F5F63"/>
            </a:solidFill>
            <a:prstDash val="solid"/>
          </a:ln>
        </p:spPr>
        <p:txBody>
          <a:bodyPr/>
          <a:lstStyle/>
          <a:p>
            <a:endParaRPr lang="en-US"/>
          </a:p>
        </p:txBody>
      </p:sp>
      <p:sp>
        <p:nvSpPr>
          <p:cNvPr id="5" name="Shape 2"/>
          <p:cNvSpPr/>
          <p:nvPr/>
        </p:nvSpPr>
        <p:spPr>
          <a:xfrm>
            <a:off x="351830" y="917749"/>
            <a:ext cx="385763" cy="1052736"/>
          </a:xfrm>
          <a:prstGeom prst="roundRect">
            <a:avLst>
              <a:gd name="adj" fmla="val 33056"/>
            </a:avLst>
          </a:prstGeom>
          <a:solidFill>
            <a:srgbClr val="46464A"/>
          </a:solidFill>
          <a:ln/>
        </p:spPr>
        <p:txBody>
          <a:bodyPr/>
          <a:lstStyle/>
          <a:p>
            <a:endParaRPr lang="en-US"/>
          </a:p>
        </p:txBody>
      </p:sp>
      <p:sp>
        <p:nvSpPr>
          <p:cNvPr id="6" name="Text 3"/>
          <p:cNvSpPr/>
          <p:nvPr/>
        </p:nvSpPr>
        <p:spPr>
          <a:xfrm>
            <a:off x="797868" y="1014189"/>
            <a:ext cx="1071563" cy="133945"/>
          </a:xfrm>
          <a:prstGeom prst="rect">
            <a:avLst/>
          </a:prstGeom>
          <a:noFill/>
          <a:ln/>
        </p:spPr>
        <p:txBody>
          <a:bodyPr wrap="none" lIns="0" tIns="0" rIns="0" bIns="0" rtlCol="0" anchor="t"/>
          <a:lstStyle/>
          <a:p>
            <a:pPr marL="0" indent="0" algn="l">
              <a:lnSpc>
                <a:spcPct val="104000"/>
              </a:lnSpc>
              <a:buNone/>
            </a:pPr>
            <a:r>
              <a:rPr lang="en-US" sz="800" b="1" dirty="0">
                <a:solidFill>
                  <a:srgbClr val="D7D4CC"/>
                </a:solidFill>
                <a:latin typeface="Comfortaa Bold" pitchFamily="34" charset="0"/>
                <a:ea typeface="Comfortaa Bold" pitchFamily="34" charset="-122"/>
                <a:cs typeface="Comfortaa Bold" pitchFamily="34" charset="-120"/>
              </a:rPr>
              <a:t>Cấu trúc Form</a:t>
            </a:r>
            <a:endParaRPr lang="en-US" sz="800" dirty="0"/>
          </a:p>
        </p:txBody>
      </p:sp>
      <p:sp>
        <p:nvSpPr>
          <p:cNvPr id="7" name="Text 4"/>
          <p:cNvSpPr/>
          <p:nvPr/>
        </p:nvSpPr>
        <p:spPr>
          <a:xfrm>
            <a:off x="797868" y="1184300"/>
            <a:ext cx="3325862" cy="689744"/>
          </a:xfrm>
          <a:prstGeom prst="rect">
            <a:avLst/>
          </a:prstGeom>
          <a:noFill/>
          <a:ln/>
        </p:spPr>
        <p:txBody>
          <a:bodyPr wrap="square" lIns="0" tIns="0" rIns="0" bIns="0" rtlCol="0" anchor="t">
            <a:normAutofit/>
          </a:bodyPr>
          <a:lstStyle/>
          <a:p>
            <a:pPr marL="342900" indent="-342900" algn="l">
              <a:lnSpc>
                <a:spcPct val="108000"/>
              </a:lnSpc>
              <a:buSzPct val="100000"/>
              <a:buChar char="•"/>
            </a:pPr>
            <a:r>
              <a:rPr lang="en-US" sz="750" dirty="0">
                <a:solidFill>
                  <a:srgbClr val="D7D4CC"/>
                </a:solidFill>
                <a:latin typeface="Raleway Medium" pitchFamily="34" charset="0"/>
                <a:ea typeface="Raleway Medium" pitchFamily="34" charset="-122"/>
                <a:cs typeface="Raleway Medium" pitchFamily="34" charset="-120"/>
              </a:rPr>
              <a:t>Tích hợp Đăng nhập &amp; Đăng ký trên cùng 1 trang (pages/dang-nhap.html)</a:t>
            </a:r>
            <a:endParaRPr lang="en-US" sz="750" dirty="0"/>
          </a:p>
          <a:p>
            <a:pPr marL="342900" indent="-342900" algn="l">
              <a:lnSpc>
                <a:spcPct val="108000"/>
              </a:lnSpc>
              <a:buSzPct val="100000"/>
              <a:buChar char="•"/>
            </a:pPr>
            <a:r>
              <a:rPr lang="en-US" sz="750" dirty="0">
                <a:solidFill>
                  <a:srgbClr val="D7D4CC"/>
                </a:solidFill>
                <a:latin typeface="Raleway Medium" pitchFamily="34" charset="0"/>
                <a:ea typeface="Raleway Medium" pitchFamily="34" charset="-122"/>
                <a:cs typeface="Raleway Medium" pitchFamily="34" charset="-120"/>
              </a:rPr>
              <a:t>Sử dụng JS Tabs để chuyển đổi mượt mà giữa 2 form</a:t>
            </a:r>
            <a:endParaRPr lang="en-US" sz="750" dirty="0"/>
          </a:p>
          <a:p>
            <a:pPr marL="342900" indent="-342900" algn="l">
              <a:lnSpc>
                <a:spcPct val="108000"/>
              </a:lnSpc>
              <a:buSzPct val="100000"/>
              <a:buChar char="•"/>
            </a:pPr>
            <a:r>
              <a:rPr lang="en-US" sz="750" dirty="0">
                <a:solidFill>
                  <a:srgbClr val="D7D4CC"/>
                </a:solidFill>
                <a:latin typeface="Raleway Medium" pitchFamily="34" charset="0"/>
                <a:ea typeface="Raleway Medium" pitchFamily="34" charset="-122"/>
                <a:cs typeface="Raleway Medium" pitchFamily="34" charset="-120"/>
              </a:rPr>
              <a:t>Form fields: Email, Password, Confirm Password, Full Name</a:t>
            </a:r>
            <a:endParaRPr lang="en-US" sz="750" dirty="0"/>
          </a:p>
          <a:p>
            <a:pPr marL="342900" indent="-342900" algn="l">
              <a:lnSpc>
                <a:spcPct val="108000"/>
              </a:lnSpc>
              <a:buSzPct val="100000"/>
              <a:buChar char="•"/>
            </a:pPr>
            <a:r>
              <a:rPr lang="en-US" sz="750" dirty="0">
                <a:solidFill>
                  <a:srgbClr val="D7D4CC"/>
                </a:solidFill>
                <a:latin typeface="Raleway Medium" pitchFamily="34" charset="0"/>
                <a:ea typeface="Raleway Medium" pitchFamily="34" charset="-122"/>
                <a:cs typeface="Raleway Medium" pitchFamily="34" charset="-120"/>
              </a:rPr>
              <a:t>Nút submit: "Đăng nhập" / "Đăng ký"</a:t>
            </a:r>
            <a:endParaRPr lang="en-US" sz="750" dirty="0"/>
          </a:p>
        </p:txBody>
      </p:sp>
      <p:sp>
        <p:nvSpPr>
          <p:cNvPr id="8" name="Shape 5"/>
          <p:cNvSpPr/>
          <p:nvPr/>
        </p:nvSpPr>
        <p:spPr>
          <a:xfrm>
            <a:off x="337542" y="2045047"/>
            <a:ext cx="3896916" cy="955997"/>
          </a:xfrm>
          <a:prstGeom prst="roundRect">
            <a:avLst>
              <a:gd name="adj" fmla="val 15132"/>
            </a:avLst>
          </a:prstGeom>
          <a:solidFill>
            <a:srgbClr val="27272B"/>
          </a:solidFill>
          <a:ln w="14288">
            <a:solidFill>
              <a:srgbClr val="5F5F63"/>
            </a:solidFill>
            <a:prstDash val="solid"/>
          </a:ln>
        </p:spPr>
        <p:txBody>
          <a:bodyPr/>
          <a:lstStyle/>
          <a:p>
            <a:endParaRPr lang="en-US"/>
          </a:p>
        </p:txBody>
      </p:sp>
      <p:sp>
        <p:nvSpPr>
          <p:cNvPr id="9" name="Shape 6"/>
          <p:cNvSpPr/>
          <p:nvPr/>
        </p:nvSpPr>
        <p:spPr>
          <a:xfrm>
            <a:off x="351830" y="2059335"/>
            <a:ext cx="385763" cy="927422"/>
          </a:xfrm>
          <a:prstGeom prst="roundRect">
            <a:avLst>
              <a:gd name="adj" fmla="val 33056"/>
            </a:avLst>
          </a:prstGeom>
          <a:solidFill>
            <a:srgbClr val="46464A"/>
          </a:solidFill>
          <a:ln/>
        </p:spPr>
        <p:txBody>
          <a:bodyPr/>
          <a:lstStyle/>
          <a:p>
            <a:endParaRPr lang="en-US"/>
          </a:p>
        </p:txBody>
      </p:sp>
      <p:sp>
        <p:nvSpPr>
          <p:cNvPr id="10" name="Text 7"/>
          <p:cNvSpPr/>
          <p:nvPr/>
        </p:nvSpPr>
        <p:spPr>
          <a:xfrm>
            <a:off x="797868" y="2155775"/>
            <a:ext cx="1071563" cy="133945"/>
          </a:xfrm>
          <a:prstGeom prst="rect">
            <a:avLst/>
          </a:prstGeom>
          <a:noFill/>
          <a:ln/>
        </p:spPr>
        <p:txBody>
          <a:bodyPr wrap="none" lIns="0" tIns="0" rIns="0" bIns="0" rtlCol="0" anchor="t"/>
          <a:lstStyle/>
          <a:p>
            <a:pPr marL="0" indent="0" algn="l">
              <a:lnSpc>
                <a:spcPct val="104000"/>
              </a:lnSpc>
              <a:buNone/>
            </a:pPr>
            <a:r>
              <a:rPr lang="en-US" sz="800" b="1" dirty="0">
                <a:solidFill>
                  <a:srgbClr val="D7D4CC"/>
                </a:solidFill>
                <a:latin typeface="Comfortaa Bold" pitchFamily="34" charset="0"/>
                <a:ea typeface="Comfortaa Bold" pitchFamily="34" charset="-122"/>
                <a:cs typeface="Comfortaa Bold" pitchFamily="34" charset="-120"/>
              </a:rPr>
              <a:t>Validation Logic</a:t>
            </a:r>
            <a:endParaRPr lang="en-US" sz="800" dirty="0"/>
          </a:p>
        </p:txBody>
      </p:sp>
      <p:sp>
        <p:nvSpPr>
          <p:cNvPr id="11" name="Text 8"/>
          <p:cNvSpPr/>
          <p:nvPr/>
        </p:nvSpPr>
        <p:spPr>
          <a:xfrm>
            <a:off x="797868" y="2325886"/>
            <a:ext cx="3325862" cy="564431"/>
          </a:xfrm>
          <a:prstGeom prst="rect">
            <a:avLst/>
          </a:prstGeom>
          <a:noFill/>
          <a:ln/>
        </p:spPr>
        <p:txBody>
          <a:bodyPr wrap="square" lIns="0" tIns="0" rIns="0" bIns="0" rtlCol="0" anchor="t">
            <a:normAutofit/>
          </a:bodyPr>
          <a:lstStyle/>
          <a:p>
            <a:pPr marL="342900" indent="-342900" algn="l">
              <a:lnSpc>
                <a:spcPct val="108000"/>
              </a:lnSpc>
              <a:buSzPct val="100000"/>
              <a:buChar char="•"/>
            </a:pPr>
            <a:r>
              <a:rPr lang="en-US" sz="750" dirty="0">
                <a:solidFill>
                  <a:srgbClr val="D7D4CC"/>
                </a:solidFill>
                <a:latin typeface="Raleway Medium" pitchFamily="34" charset="0"/>
                <a:ea typeface="Raleway Medium" pitchFamily="34" charset="-122"/>
                <a:cs typeface="Raleway Medium" pitchFamily="34" charset="-120"/>
              </a:rPr>
              <a:t>Email validation: Kiểm tra định dạng email hợp lệ</a:t>
            </a:r>
            <a:endParaRPr lang="en-US" sz="750" dirty="0"/>
          </a:p>
          <a:p>
            <a:pPr marL="342900" indent="-342900" algn="l">
              <a:lnSpc>
                <a:spcPct val="108000"/>
              </a:lnSpc>
              <a:buSzPct val="100000"/>
              <a:buChar char="•"/>
            </a:pPr>
            <a:r>
              <a:rPr lang="en-US" sz="750" dirty="0">
                <a:solidFill>
                  <a:srgbClr val="D7D4CC"/>
                </a:solidFill>
                <a:latin typeface="Raleway Medium" pitchFamily="34" charset="0"/>
                <a:ea typeface="Raleway Medium" pitchFamily="34" charset="-122"/>
                <a:cs typeface="Raleway Medium" pitchFamily="34" charset="-120"/>
              </a:rPr>
              <a:t>Password strength: Tối thiểu 6 ký tự</a:t>
            </a:r>
            <a:endParaRPr lang="en-US" sz="750" dirty="0"/>
          </a:p>
          <a:p>
            <a:pPr marL="342900" indent="-342900" algn="l">
              <a:lnSpc>
                <a:spcPct val="108000"/>
              </a:lnSpc>
              <a:buSzPct val="100000"/>
              <a:buChar char="•"/>
            </a:pPr>
            <a:r>
              <a:rPr lang="en-US" sz="750" dirty="0">
                <a:solidFill>
                  <a:srgbClr val="D7D4CC"/>
                </a:solidFill>
                <a:latin typeface="Raleway Medium" pitchFamily="34" charset="0"/>
                <a:ea typeface="Raleway Medium" pitchFamily="34" charset="-122"/>
                <a:cs typeface="Raleway Medium" pitchFamily="34" charset="-120"/>
              </a:rPr>
              <a:t>Confirm password: Kiểm tra khớp với password</a:t>
            </a:r>
            <a:endParaRPr lang="en-US" sz="750" dirty="0"/>
          </a:p>
          <a:p>
            <a:pPr marL="342900" indent="-342900" algn="l">
              <a:lnSpc>
                <a:spcPct val="108000"/>
              </a:lnSpc>
              <a:buSzPct val="100000"/>
              <a:buChar char="•"/>
            </a:pPr>
            <a:r>
              <a:rPr lang="en-US" sz="750" dirty="0">
                <a:solidFill>
                  <a:srgbClr val="D7D4CC"/>
                </a:solidFill>
                <a:latin typeface="Raleway Medium" pitchFamily="34" charset="0"/>
                <a:ea typeface="Raleway Medium" pitchFamily="34" charset="-122"/>
                <a:cs typeface="Raleway Medium" pitchFamily="34" charset="-120"/>
              </a:rPr>
              <a:t>Real-time validation: Hiển thị lỗi khi người dùng nhập</a:t>
            </a:r>
            <a:endParaRPr lang="en-US" sz="750" dirty="0"/>
          </a:p>
        </p:txBody>
      </p:sp>
      <p:sp>
        <p:nvSpPr>
          <p:cNvPr id="12" name="Shape 9"/>
          <p:cNvSpPr/>
          <p:nvPr/>
        </p:nvSpPr>
        <p:spPr>
          <a:xfrm>
            <a:off x="337542" y="3061320"/>
            <a:ext cx="3896916" cy="788566"/>
          </a:xfrm>
          <a:prstGeom prst="roundRect">
            <a:avLst>
              <a:gd name="adj" fmla="val 18345"/>
            </a:avLst>
          </a:prstGeom>
          <a:solidFill>
            <a:srgbClr val="27272B"/>
          </a:solidFill>
          <a:ln w="14288">
            <a:solidFill>
              <a:srgbClr val="5F5F63"/>
            </a:solidFill>
            <a:prstDash val="solid"/>
          </a:ln>
        </p:spPr>
        <p:txBody>
          <a:bodyPr/>
          <a:lstStyle/>
          <a:p>
            <a:endParaRPr lang="en-US"/>
          </a:p>
        </p:txBody>
      </p:sp>
      <p:sp>
        <p:nvSpPr>
          <p:cNvPr id="13" name="Shape 10"/>
          <p:cNvSpPr/>
          <p:nvPr/>
        </p:nvSpPr>
        <p:spPr>
          <a:xfrm>
            <a:off x="351830" y="3075608"/>
            <a:ext cx="385763" cy="759991"/>
          </a:xfrm>
          <a:prstGeom prst="roundRect">
            <a:avLst>
              <a:gd name="adj" fmla="val 33056"/>
            </a:avLst>
          </a:prstGeom>
          <a:solidFill>
            <a:srgbClr val="46464A"/>
          </a:solidFill>
          <a:ln/>
        </p:spPr>
        <p:txBody>
          <a:bodyPr/>
          <a:lstStyle/>
          <a:p>
            <a:endParaRPr lang="en-US"/>
          </a:p>
        </p:txBody>
      </p:sp>
      <p:sp>
        <p:nvSpPr>
          <p:cNvPr id="14" name="Text 11"/>
          <p:cNvSpPr/>
          <p:nvPr/>
        </p:nvSpPr>
        <p:spPr>
          <a:xfrm>
            <a:off x="797868" y="3172048"/>
            <a:ext cx="1071563" cy="133945"/>
          </a:xfrm>
          <a:prstGeom prst="rect">
            <a:avLst/>
          </a:prstGeom>
          <a:noFill/>
          <a:ln/>
        </p:spPr>
        <p:txBody>
          <a:bodyPr wrap="none" lIns="0" tIns="0" rIns="0" bIns="0" rtlCol="0" anchor="t"/>
          <a:lstStyle/>
          <a:p>
            <a:pPr marL="0" indent="0" algn="l">
              <a:lnSpc>
                <a:spcPct val="104000"/>
              </a:lnSpc>
              <a:buNone/>
            </a:pPr>
            <a:r>
              <a:rPr lang="en-US" sz="800" b="1" dirty="0">
                <a:solidFill>
                  <a:srgbClr val="D7D4CC"/>
                </a:solidFill>
                <a:latin typeface="Comfortaa Bold" pitchFamily="34" charset="0"/>
                <a:ea typeface="Comfortaa Bold" pitchFamily="34" charset="-122"/>
                <a:cs typeface="Comfortaa Bold" pitchFamily="34" charset="-120"/>
              </a:rPr>
              <a:t>Lưu trữ &amp; Bảo mật</a:t>
            </a:r>
            <a:endParaRPr lang="en-US" sz="800" dirty="0"/>
          </a:p>
        </p:txBody>
      </p:sp>
      <p:sp>
        <p:nvSpPr>
          <p:cNvPr id="15" name="Text 12"/>
          <p:cNvSpPr/>
          <p:nvPr/>
        </p:nvSpPr>
        <p:spPr>
          <a:xfrm>
            <a:off x="797868" y="3342159"/>
            <a:ext cx="3325862" cy="396999"/>
          </a:xfrm>
          <a:prstGeom prst="rect">
            <a:avLst/>
          </a:prstGeom>
          <a:noFill/>
          <a:ln/>
        </p:spPr>
        <p:txBody>
          <a:bodyPr wrap="square" lIns="0" tIns="0" rIns="0" bIns="0" rtlCol="0" anchor="t">
            <a:normAutofit/>
          </a:bodyPr>
          <a:lstStyle/>
          <a:p>
            <a:pPr marL="342900" indent="-342900" algn="l">
              <a:lnSpc>
                <a:spcPct val="108000"/>
              </a:lnSpc>
              <a:buSzPct val="100000"/>
              <a:buChar char="•"/>
            </a:pPr>
            <a:r>
              <a:rPr lang="en-US" sz="750" dirty="0">
                <a:solidFill>
                  <a:srgbClr val="D7D4CC"/>
                </a:solidFill>
                <a:latin typeface="Raleway Medium" pitchFamily="34" charset="0"/>
                <a:ea typeface="Raleway Medium" pitchFamily="34" charset="-122"/>
                <a:cs typeface="Raleway Medium" pitchFamily="34" charset="-120"/>
              </a:rPr>
              <a:t>Lưu thông tin người dùng vào localStorage (Mô phỏng Demo phía Client-side)</a:t>
            </a:r>
            <a:endParaRPr lang="en-US" sz="750" dirty="0"/>
          </a:p>
          <a:p>
            <a:pPr marL="342900" indent="-342900" algn="l">
              <a:lnSpc>
                <a:spcPct val="108000"/>
              </a:lnSpc>
              <a:buSzPct val="100000"/>
              <a:buChar char="•"/>
            </a:pPr>
            <a:r>
              <a:rPr lang="en-US" sz="750" dirty="0">
                <a:solidFill>
                  <a:srgbClr val="D7D4CC"/>
                </a:solidFill>
                <a:latin typeface="Raleway Medium" pitchFamily="34" charset="0"/>
                <a:ea typeface="Raleway Medium" pitchFamily="34" charset="-122"/>
                <a:cs typeface="Raleway Medium" pitchFamily="34" charset="-120"/>
              </a:rPr>
              <a:t>Validation cả client-side và server-side (khi có backend)</a:t>
            </a:r>
            <a:endParaRPr lang="en-US" sz="750" dirty="0"/>
          </a:p>
        </p:txBody>
      </p:sp>
      <p:sp>
        <p:nvSpPr>
          <p:cNvPr id="16" name="Shape 13"/>
          <p:cNvSpPr/>
          <p:nvPr/>
        </p:nvSpPr>
        <p:spPr>
          <a:xfrm>
            <a:off x="337542" y="3910161"/>
            <a:ext cx="3896916" cy="955997"/>
          </a:xfrm>
          <a:prstGeom prst="roundRect">
            <a:avLst>
              <a:gd name="adj" fmla="val 15132"/>
            </a:avLst>
          </a:prstGeom>
          <a:solidFill>
            <a:srgbClr val="27272B"/>
          </a:solidFill>
          <a:ln w="14288">
            <a:solidFill>
              <a:srgbClr val="5F5F63"/>
            </a:solidFill>
            <a:prstDash val="solid"/>
          </a:ln>
        </p:spPr>
        <p:txBody>
          <a:bodyPr/>
          <a:lstStyle/>
          <a:p>
            <a:endParaRPr lang="en-US"/>
          </a:p>
        </p:txBody>
      </p:sp>
      <p:sp>
        <p:nvSpPr>
          <p:cNvPr id="17" name="Shape 14"/>
          <p:cNvSpPr/>
          <p:nvPr/>
        </p:nvSpPr>
        <p:spPr>
          <a:xfrm>
            <a:off x="351830" y="3924449"/>
            <a:ext cx="385763" cy="927422"/>
          </a:xfrm>
          <a:prstGeom prst="roundRect">
            <a:avLst>
              <a:gd name="adj" fmla="val 33056"/>
            </a:avLst>
          </a:prstGeom>
          <a:solidFill>
            <a:srgbClr val="46464A"/>
          </a:solidFill>
          <a:ln/>
        </p:spPr>
        <p:txBody>
          <a:bodyPr/>
          <a:lstStyle/>
          <a:p>
            <a:endParaRPr lang="en-US"/>
          </a:p>
        </p:txBody>
      </p:sp>
      <p:sp>
        <p:nvSpPr>
          <p:cNvPr id="18" name="Text 15"/>
          <p:cNvSpPr/>
          <p:nvPr/>
        </p:nvSpPr>
        <p:spPr>
          <a:xfrm>
            <a:off x="797868" y="4020889"/>
            <a:ext cx="1071563" cy="133945"/>
          </a:xfrm>
          <a:prstGeom prst="rect">
            <a:avLst/>
          </a:prstGeom>
          <a:noFill/>
          <a:ln/>
        </p:spPr>
        <p:txBody>
          <a:bodyPr wrap="none" lIns="0" tIns="0" rIns="0" bIns="0" rtlCol="0" anchor="t"/>
          <a:lstStyle/>
          <a:p>
            <a:pPr marL="0" indent="0" algn="l">
              <a:lnSpc>
                <a:spcPct val="104000"/>
              </a:lnSpc>
              <a:buNone/>
            </a:pPr>
            <a:r>
              <a:rPr lang="en-US" sz="800" b="1" dirty="0">
                <a:solidFill>
                  <a:srgbClr val="D7D4CC"/>
                </a:solidFill>
                <a:latin typeface="Comfortaa Bold" pitchFamily="34" charset="0"/>
                <a:ea typeface="Comfortaa Bold" pitchFamily="34" charset="-122"/>
                <a:cs typeface="Comfortaa Bold" pitchFamily="34" charset="-120"/>
              </a:rPr>
              <a:t>Giao diện Form</a:t>
            </a:r>
            <a:endParaRPr lang="en-US" sz="800" dirty="0"/>
          </a:p>
        </p:txBody>
      </p:sp>
      <p:sp>
        <p:nvSpPr>
          <p:cNvPr id="19" name="Text 16"/>
          <p:cNvSpPr/>
          <p:nvPr/>
        </p:nvSpPr>
        <p:spPr>
          <a:xfrm>
            <a:off x="797868" y="4191000"/>
            <a:ext cx="3325862" cy="564431"/>
          </a:xfrm>
          <a:prstGeom prst="rect">
            <a:avLst/>
          </a:prstGeom>
          <a:noFill/>
          <a:ln/>
        </p:spPr>
        <p:txBody>
          <a:bodyPr wrap="square" lIns="0" tIns="0" rIns="0" bIns="0" rtlCol="0" anchor="t">
            <a:normAutofit lnSpcReduction="10000"/>
          </a:bodyPr>
          <a:lstStyle/>
          <a:p>
            <a:pPr marL="342900" indent="-342900" algn="l">
              <a:lnSpc>
                <a:spcPct val="108000"/>
              </a:lnSpc>
              <a:buSzPct val="100000"/>
              <a:buChar char="•"/>
            </a:pPr>
            <a:r>
              <a:rPr lang="en-US" sz="750" dirty="0">
                <a:solidFill>
                  <a:srgbClr val="D7D4CC"/>
                </a:solidFill>
                <a:latin typeface="Raleway Medium" pitchFamily="34" charset="0"/>
                <a:ea typeface="Raleway Medium" pitchFamily="34" charset="-122"/>
                <a:cs typeface="Raleway Medium" pitchFamily="34" charset="-120"/>
              </a:rPr>
              <a:t>Bootstrap form classes: form-control, form-group, invalid-feedback</a:t>
            </a:r>
            <a:endParaRPr lang="en-US" sz="750" dirty="0"/>
          </a:p>
          <a:p>
            <a:pPr marL="342900" indent="-342900" algn="l">
              <a:lnSpc>
                <a:spcPct val="108000"/>
              </a:lnSpc>
              <a:buSzPct val="100000"/>
              <a:buChar char="•"/>
            </a:pPr>
            <a:r>
              <a:rPr lang="en-US" sz="750" dirty="0">
                <a:solidFill>
                  <a:srgbClr val="D7D4CC"/>
                </a:solidFill>
                <a:latin typeface="Raleway Medium" pitchFamily="34" charset="0"/>
                <a:ea typeface="Raleway Medium" pitchFamily="34" charset="-122"/>
                <a:cs typeface="Raleway Medium" pitchFamily="34" charset="-120"/>
              </a:rPr>
              <a:t>Error messages: Hiển thị dưới input field</a:t>
            </a:r>
            <a:endParaRPr lang="en-US" sz="750" dirty="0"/>
          </a:p>
          <a:p>
            <a:pPr marL="342900" indent="-342900" algn="l">
              <a:lnSpc>
                <a:spcPct val="108000"/>
              </a:lnSpc>
              <a:buSzPct val="100000"/>
              <a:buChar char="•"/>
            </a:pPr>
            <a:r>
              <a:rPr lang="en-US" sz="750" dirty="0">
                <a:solidFill>
                  <a:srgbClr val="D7D4CC"/>
                </a:solidFill>
                <a:latin typeface="Raleway Medium" pitchFamily="34" charset="0"/>
                <a:ea typeface="Raleway Medium" pitchFamily="34" charset="-122"/>
                <a:cs typeface="Raleway Medium" pitchFamily="34" charset="-120"/>
              </a:rPr>
              <a:t>Success state: Thay đổi border color thành xanh</a:t>
            </a:r>
            <a:endParaRPr lang="en-US" sz="750" dirty="0"/>
          </a:p>
          <a:p>
            <a:pPr marL="342900" indent="-342900" algn="l">
              <a:lnSpc>
                <a:spcPct val="108000"/>
              </a:lnSpc>
              <a:buSzPct val="100000"/>
              <a:buChar char="•"/>
            </a:pPr>
            <a:r>
              <a:rPr lang="en-US" sz="750" dirty="0">
                <a:solidFill>
                  <a:srgbClr val="D7D4CC"/>
                </a:solidFill>
                <a:latin typeface="Raleway Medium" pitchFamily="34" charset="0"/>
                <a:ea typeface="Raleway Medium" pitchFamily="34" charset="-122"/>
                <a:cs typeface="Raleway Medium" pitchFamily="34" charset="-120"/>
              </a:rPr>
              <a:t>Loading state: Nút submit hiển thị spinner khi submit</a:t>
            </a:r>
            <a:endParaRPr lang="en-US" sz="75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 b="-1000"/>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B3CC804-FF4A-2902-816A-4183E65E9FC4}"/>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853779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1397</Words>
  <Application>Microsoft Office PowerPoint</Application>
  <PresentationFormat>On-screen Show (16:9)</PresentationFormat>
  <Paragraphs>148</Paragraphs>
  <Slides>11</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Comfortaa Bold</vt:lpstr>
      <vt:lpstr>Raleway Medium</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tran phuc</cp:lastModifiedBy>
  <cp:revision>3</cp:revision>
  <dcterms:created xsi:type="dcterms:W3CDTF">2026-05-21T11:14:12Z</dcterms:created>
  <dcterms:modified xsi:type="dcterms:W3CDTF">2026-05-21T11:24:20Z</dcterms:modified>
</cp:coreProperties>
</file>